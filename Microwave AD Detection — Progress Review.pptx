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last time we showed the single-layer sectored sphere. Today: why we moved to a layered head, how we classify stages, why we changed the feature, the lobe-sectored phantom the professor asked for (layers + sectors), and imaging results with their controls. Everything is HFSS simulation of one idealised head; I will say clearly what is robust and what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single-layer phase taught us the design rules. Detection worked for every perturbation case, but localisation followed antenna biases: Port 5 had about 10x gain (pulls calls to S3), one antenna pair P3-P8 dominated (S1), Port 2 was badly matched (VSWR &gt; 4, S5), stand-offs ranged 2.9-31 mm, and the analysis band 3.3-3.5 GHz missed the resonances near 3.66 GHz. These were perturbation cases, not AD stages. Lesson: a symmetric ring with equal stand-off, and features that cancel each antenna's 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Defence if asked "earlier CSF was uniform, now regional?": the voxel image shows CSF is PRESENT everywhere, which is why it is a layer. How much it EXPANDS differs by lobe (Shehab 2025 Table 7); the uniform model is the global average, the lobe model the refinement. Purple = CSF compartment as exported from CST.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Layers outer to inner: skin 88, fat 87.5, skull 86.5, CSF 83.5, gray 83, white 76, hippocampus 25 mm (healthy). Stage radii: gray 83 / 70.55 / 66.05 / 62.25, white 76 / 64.6 / 60.8 / 57, hippocampus 25 / 17.5 / 12.5 / 7.5 mm. MCI changes only the hippocampus (21.25 mm). If asked "can you predict radius changes?": in this uniform model we only classified; in the lobe model the imaging estimates the cortex retreat per lobe (next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 order in the Touchstone files: Port 1..6 = T4, T3, T2, T1, T6, T5, confirmed from the HFSS geometry (port-sheet azimuths) and the field exports. In-brain sensitivity: 54-70% above z = 40 mm, at most 4% below z = 0, which is why the hippocampus (MCI) and low temporal regions are out of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top row = ring average of each path class; bottom row = stage minus Normal. The opposite path is the consistent detection signal. The reflection changes are large but only in a narrow band around the notch, which is exactly the region where small shifts of the resonance dominate; we do not build features on the notch.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of using every path is right; summing them in linear power is what buries the transmissions under the reflection. Ratios of path classes keep them. Numbers: v2 uniform solves (one HFSS project), band 3.2-4.2 GHz. Separation of this quantity: Fisher 0.15 (95% 0.004-0.52) against 28 for R31,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Fisher ratio = (difference of class means)^2 / (sum of class variances); Bhattacharyya distance and symmetric Kullback-Leibler divergence computed with Gaussian class models. Intervals are 95% bootstrap over solves. The covariance comes from very few solves, so the absolute numbers move with how it is regularised (a factor 6-74 between x0.1 and x10 scaling); the ranking is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Gain proof: |S_ij|^2 -&gt; |g_i|^2 |g_j|^2 |S_ij|^2. Over t = 1..6, the terms S(t+3,t) contain each port twice, and so do the terms S(t+1,t). The geometric mean of each set therefore scales by (prod |g_i|^4)^(1/6); the ratio is unchanged. If asked "you are just tracking the dip": the feature never picks a notch frequency or depth and does not use S_ii; but the disease information lives in the band near the antenna's operating frequency, which we report as a band dependence.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threshold tau = -15.27 dB and the staging boundaries were fitted on the uniform heads before any lobe design existed; the lobe designs are a test the rule never saw. R31 is not monotonic: at Severe the neighbour coupling also falls (-0.44 dB), so R31 moves back toward Normal. R31 is a detection feature, R21 the staging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Robustness: the labels stay the same under +-0.5 dB and +-2 dB / +-10 degree per-antenna gain and phase errors, and at twice the chosen noise (left-only drops to 94%). Severe and left-only sit close to the band because R31 turns back at Severe and because one-sided disease changes the ring average less. MCI is labelled Normal, which is physically expected: the hippocampus is far below the sensing depth. Why staging margins are small: R21 rests on the second-neighbour paths (about -55 dB). Two equivalent simulations of the same healthy lobe head differed by up to 0.36 dB in R21, about a third of the Normal-to-Mild step, while R31 moved only 0.10 dB, inside its margin. Detection holds; staging is indicative.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hybrid the professor asked for: radial layers plus lateral sectors in one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Built in HFSS by script from the healthy layered design: same antennas, same ring, same solver settings. Stage table e_k (mm), lobes Frontal / Temporal L / Parietal L / Occipital / Parietal R / Temporal R: Mild 0 / 7.5 / 11.5 / 0 / 11.5 / 7.5, hippocampus 17.5; Moderate 11.5 / 12.5 / 15.5 / 0 / 15.5 / 12.5, hippocampus 12.5; Severe 15.5 / 17.5 / 18 / 11.5 / 18 / 17.5, hippocampus 7.5. CSF defence: CSF thickness changes per lobe, its material changes everywhere because it is one connected compartment, as in reality. Lobes are azimuthal wedges of the upper head: a schematic placement, and aligned with the antennas, which is favourable.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the uniform head: the same direction of change, about half the size, because only some lobes change. This is why the frozen threshold still works for Mild and Moderate lobe heads but sits close for left-only.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 resolution: c / (2 B sqrt(er)) = 3e8 / (2 x 1e9 x 6.9) = 22 mm for er about 47.7. The linear model uses healthy-head fields for changes of 7-18 mm, which is far outside its validity. These failures pointed to a parametric approach with a strong anatomical prior.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inversion, no training: this is the measured data. The information about where the disease is lives mostly in phase, which power-based features throw away. Caveat to say: the 3.30-3.65 GHz window was chosen after earlier analysis of the left-only design. Most of the shift is common to all antennas (CSF material changes everywhere); the lobe pattern is a 1-4 degree modulation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Details: surrogate = ridge regression on the complex log-ratio ln(S / S_healthy); 12 symmetries = 6 rotations x mirror of the ring, so each solved design gives up to 12 training examples. Leave-one-design-out: the design being imaged and its repeat solve are never in training. Gibbs sampling over lobe states, stage evidence by Chib's method. Disclosed: the layered-tissue features and the widening of uncertainty when the fit is poor were adopted after seeing held-out results; both are applied by one rule to every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read depth: z is height; depth is measured inward from the brain surface. At z = 50 mm the brain cross-section has radius ~66 mm and the sensed shell (~15 mm deep) shows as an annulus ~20 mm wide; the centre is hatched. Every slice is drawn from the same seven estimated numbers (the stage and one retreat per lobe), because the lobes are modelled as full-height wedges: the change across z is geometry (the brain cross-section shrinks) and the sensitivity fade, not a measured vertical profile. With all antennas at z of about 48 mm the paths cannot tell height apart; 54-70% of the in-brain sensitivity is above z = 40 mm and at most 4% below z = 0. Show z = 50-70 as the sensed images. Measuring height would need a second antenna ring at another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Scores are leave-one-design-out: nothing from the imaged design enters the model; the truth is used only for this scoring. Correlation of the reconstructed conductivity map with the truth over the sensed brain: Mild 0.82-0.94, Moderate 0.91-0.94, left-only 0.97, Severe 0.09-0.17. Severe fails on depth because Severe CSF (sigma 6.4 S/m) attenuates the field within about 5 mm; the fit is equally good for any retreat between 6 and 20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Conductivity shows the change more strongly in relative terms (diseased CSF sigma about 2x gray matter), which is why the conductivity view is used as the main slide; the permittivity view carries the same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shuffled-data control is the important warning: the method can paint lobes from garbage, and only the fit test catches it. That is why the fit value is printed on every reconstruction and why a rejection threshold is fixed before the blind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Noise also biases the retreat estimate low. For any real measurement the gain-removing inversion should be the default, because per-antenna drift between a baseline scan and a follow-up scan is unavoidable.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Protocol and fit-rejection threshold were committed before the file existed; the geometry was stripped from the file header and held back until all three analyses had committed their estimates. The design (left temporal 11.5 mm + right parietal 7.5 mm, Mild materials) is not a rotation or mirror of any solved design, and both sides are affected, so it cannot be read off the left-only result. A separate pattern fit of the raw phase, with no imaging model, also picked exactly this pair as its best pattern. Raw data: the per-antenna phase delay is largest at T2 and T5, the antennas over these lobes, but that elevation (about 1.6-2 degrees) is only 1.5-2x the spread between two healthy simulations, so it supports the image rather than proving it on its own. Against other simulations of the healthy head as baseline, the lobe calls held in 6 of 6 runs; one baseline staged it Moderate instead of Mild. The mirrored left-only design, solved separately, was also imaged with exactly its two right lobes. Honest caveats: this is one design; depth is the weak part - two alternative reference settings of the same blind run gave 3.5-6.5 mm for the temporal lobe, and in the mirrored design depth came out 3-3.5 mm against 7.5-11.5. The simple ratio rule (previous section) labelled this design Normal, as it did the left-only design: partial disease is below its staging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Estimates were committed before the truth was revealed; the truth row and outlines were added afterwards. Second row: standard inversion (the scored one). Third: gain-removing inversion, the version to use with real hardware. Fourth: the same data against a second simulation of the healthy head as baseline; the lobes do not change. Lower slices (z = 0-20 mm) are mostly the model's extrapolation, because the lobe sectors are full-height wedges: read z = 40-80 mm as the real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97562"/>
            <a:ext cx="10972800" cy="739616"/>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609600" y="1841978"/>
            <a:ext cx="10769600" cy="420322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6F2"/>
        </a:solidFill>
      </p:bgPr>
    </p:bg>
    <p:spTree>
      <p:nvGrpSpPr>
        <p:cNvPr id="1" name=""/>
        <p:cNvGrpSpPr/>
        <p:nvPr/>
      </p:nvGrpSpPr>
      <p:grpSpPr>
        <a:xfrm>
          <a:off x="0" y="0"/>
          <a:ext cx="0" cy="0"/>
          <a:chOff x="0" y="0"/>
          <a:chExt cx="0" cy="0"/>
        </a:xfrm>
      </p:grpSpPr>
      <p:sp>
        <p:nvSpPr>
          <p:cNvPr id="2" name="Title Placeholder 1"/>
          <p:cNvSpPr/>
          <p:nvPr>
            <p:ph type="title"/>
          </p:nvPr>
        </p:nvSpPr>
        <p:spPr>
          <a:xfrm>
            <a:off x="609600" y="797562"/>
            <a:ext cx="10972800" cy="739616"/>
          </a:xfrm>
          <a:prstGeom prst="rect">
            <a:avLst/>
          </a:prstGeom>
          <a:noFill/>
          <a:ln/>
        </p:spPr>
        <p:txBody>
          <a:bodyPr wrap="square" lIns="0" tIns="0" rIns="0" bIns="0" rtlCol="0" anchor="t"/>
          <a:lstStyle>
            <a:lvl1pPr algn="l" indent="0" marL="0">
              <a:lnSpc>
                <a:spcPct val="115000"/>
              </a:lnSpc>
              <a:buNone/>
              <a:defRPr lang="en-US" sz="26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2600" dirty="0"/>
          </a:p>
        </p:txBody>
      </p:sp>
      <p:sp>
        <p:nvSpPr>
          <p:cNvPr id="3" name="Text Placeholder 2"/>
          <p:cNvSpPr/>
          <p:nvPr>
            <p:ph idx="101" type="body"/>
          </p:nvPr>
        </p:nvSpPr>
        <p:spPr>
          <a:xfrm>
            <a:off x="609600" y="1841978"/>
            <a:ext cx="10769600" cy="4203222"/>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906588"/>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6B6EF"/>
                </a:solidFill>
                <a:latin typeface="IBM Plex Sans" pitchFamily="34" charset="0"/>
                <a:ea typeface="IBM Plex Sans" pitchFamily="34" charset="-122"/>
                <a:cs typeface="IBM Plex Sans" pitchFamily="34" charset="-120"/>
              </a:rPr>
              <a:t>DUAL DEGREE PROJECT · PROGRESS REVIEW</a:t>
            </a:r>
            <a:endParaRPr lang="en-US" sz="1300" dirty="0"/>
          </a:p>
        </p:txBody>
      </p:sp>
      <p:sp>
        <p:nvSpPr>
          <p:cNvPr id="3" name="Text 1"/>
          <p:cNvSpPr/>
          <p:nvPr>
            <p:ph type="title"/>
          </p:nvPr>
        </p:nvSpPr>
        <p:spPr>
          <a:xfrm>
            <a:off x="812800" y="2366327"/>
            <a:ext cx="10883392" cy="1287145"/>
          </a:xfrm>
          <a:prstGeom prst="rect">
            <a:avLst/>
          </a:prstGeom>
          <a:noFill/>
          <a:ln/>
        </p:spPr>
        <p:txBody>
          <a:bodyPr wrap="square" lIns="0" tIns="0" rIns="0" bIns="0" rtlCol="0" anchor="t">
            <a:normAutofit/>
          </a:bodyPr>
          <a:lstStyle/>
          <a:p>
            <a:pPr algn="l" indent="0" marL="0">
              <a:lnSpc>
                <a:spcPts val="4968"/>
              </a:lnSpc>
              <a:buNone/>
            </a:pPr>
            <a:r>
              <a:rPr lang="en-US" sz="4600" b="1" i="0" dirty="0">
                <a:solidFill>
                  <a:srgbClr val="F7F6F2"/>
                </a:solidFill>
                <a:latin typeface="Source Serif 4" pitchFamily="18" charset="0"/>
                <a:ea typeface="Source Serif 4" pitchFamily="18" charset="-122"/>
                <a:cs typeface="Source Serif 4" pitchFamily="18" charset="-120"/>
              </a:rPr>
              <a:t>Microwave detection and imaging of Alzheimer's-related brain changes</a:t>
            </a:r>
            <a:endParaRPr lang="en-US" sz="4600" dirty="0"/>
          </a:p>
        </p:txBody>
      </p:sp>
      <p:sp>
        <p:nvSpPr>
          <p:cNvPr id="4" name="Text 2"/>
          <p:cNvSpPr/>
          <p:nvPr/>
        </p:nvSpPr>
        <p:spPr>
          <a:xfrm>
            <a:off x="812800" y="3856673"/>
            <a:ext cx="10883392" cy="64262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C9D3E3"/>
                </a:solidFill>
                <a:latin typeface="IBM Plex Sans" pitchFamily="34" charset="0"/>
                <a:ea typeface="IBM Plex Sans" pitchFamily="34" charset="-122"/>
                <a:cs typeface="IBM Plex Sans" pitchFamily="34" charset="-120"/>
              </a:rPr>
              <a:t>From a single-layer sectored sphere to a layered, lobe-sectored head: what a six-antenna ring can classify, and what it can image</a:t>
            </a:r>
            <a:endParaRPr lang="en-US" sz="1800" dirty="0"/>
          </a:p>
        </p:txBody>
      </p:sp>
      <p:sp>
        <p:nvSpPr>
          <p:cNvPr id="5" name="Text 3"/>
          <p:cNvSpPr/>
          <p:nvPr/>
        </p:nvSpPr>
        <p:spPr>
          <a:xfrm>
            <a:off x="812800" y="470249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9FB0C8"/>
                </a:solidFill>
                <a:latin typeface="IBM Plex Sans" pitchFamily="34" charset="0"/>
                <a:ea typeface="IBM Plex Sans" pitchFamily="34" charset="-122"/>
                <a:cs typeface="IBM Plex Sans" pitchFamily="34" charset="-120"/>
              </a:rPr>
              <a:t>Jatin · supervisor Prof. Anirban Sarkar · IIT Bombay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WHERE WE LEFT OFF</a:t>
            </a:r>
            <a:endParaRPr lang="en-US" sz="1200" dirty="0"/>
          </a:p>
        </p:txBody>
      </p:sp>
      <p:sp>
        <p:nvSpPr>
          <p:cNvPr id="3" name="Text 1"/>
          <p:cNvSpPr/>
          <p:nvPr>
            <p:ph type="title"/>
          </p:nvPr>
        </p:nvSpPr>
        <p:spPr>
          <a:xfrm>
            <a:off x="609600" y="797560"/>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Single-layer sectored sphere: the change was easy to detect, its location was not</a:t>
            </a:r>
            <a:endParaRPr lang="en-US" sz="2600" dirty="0"/>
          </a:p>
        </p:txBody>
      </p:sp>
      <p:sp>
        <p:nvSpPr>
          <p:cNvPr id="4" name="Shape 2"/>
          <p:cNvSpPr/>
          <p:nvPr/>
        </p:nvSpPr>
        <p:spPr>
          <a:xfrm>
            <a:off x="609600" y="1664177"/>
            <a:ext cx="4940300" cy="2336800"/>
          </a:xfrm>
          <a:prstGeom prst="roundRect">
            <a:avLst>
              <a:gd name="adj" fmla="val 3261"/>
            </a:avLst>
          </a:prstGeom>
          <a:solidFill>
            <a:srgbClr val="FFFFFF"/>
          </a:solidFill>
          <a:ln/>
        </p:spPr>
      </p:sp>
      <p:pic>
        <p:nvPicPr>
          <p:cNvPr id="5" name="Image 0" descr="Single-layer sphere, radius 58 mm, six sectors and eight antennas at uneven stand-offs">    </p:cNvPr>
          <p:cNvPicPr>
            <a:picLocks noChangeAspect="1"/>
          </p:cNvPicPr>
          <p:nvPr/>
        </p:nvPicPr>
        <p:blipFill>
          <a:blip r:embed="rId1"/>
          <a:srcRect l="0" r="0" t="-30" b="-30"/>
          <a:stretch/>
        </p:blipFill>
        <p:spPr>
          <a:xfrm>
            <a:off x="609600" y="1664177"/>
            <a:ext cx="4940300" cy="2336800"/>
          </a:xfrm>
          <a:prstGeom prst="roundRect">
            <a:avLst>
              <a:gd name="adj" fmla="val 3261"/>
            </a:avLst>
          </a:prstGeom>
        </p:spPr>
      </p:pic>
      <p:sp>
        <p:nvSpPr>
          <p:cNvPr id="6" name="Shape 3"/>
          <p:cNvSpPr/>
          <p:nvPr/>
        </p:nvSpPr>
        <p:spPr>
          <a:xfrm>
            <a:off x="5702300" y="1664177"/>
            <a:ext cx="5822950" cy="2336800"/>
          </a:xfrm>
          <a:prstGeom prst="roundRect">
            <a:avLst>
              <a:gd name="adj" fmla="val 3261"/>
            </a:avLst>
          </a:prstGeom>
          <a:solidFill>
            <a:srgbClr val="FFFFFF"/>
          </a:solidFill>
          <a:ln/>
        </p:spPr>
      </p:sp>
      <p:pic>
        <p:nvPicPr>
          <p:cNvPr id="7" name="Image 1" descr="Ground-truth sector permittivity changes for five cases next to the predicted top sectors">    </p:cNvPr>
          <p:cNvPicPr>
            <a:picLocks noChangeAspect="1"/>
          </p:cNvPicPr>
          <p:nvPr/>
        </p:nvPicPr>
        <p:blipFill>
          <a:blip r:embed="rId2"/>
          <a:srcRect l="-1" r="-1" t="0" b="0"/>
          <a:stretch/>
        </p:blipFill>
        <p:spPr>
          <a:xfrm>
            <a:off x="5702300" y="1664177"/>
            <a:ext cx="5822950" cy="2336800"/>
          </a:xfrm>
          <a:prstGeom prst="roundRect">
            <a:avLst>
              <a:gd name="adj" fmla="val 3261"/>
            </a:avLst>
          </a:prstGeom>
        </p:spPr>
      </p:pic>
      <p:sp>
        <p:nvSpPr>
          <p:cNvPr id="8" name="Shape 4"/>
          <p:cNvSpPr/>
          <p:nvPr/>
        </p:nvSpPr>
        <p:spPr>
          <a:xfrm>
            <a:off x="612775" y="4131152"/>
            <a:ext cx="3549650" cy="1477010"/>
          </a:xfrm>
          <a:prstGeom prst="roundRect">
            <a:avLst>
              <a:gd name="adj" fmla="val 6664"/>
            </a:avLst>
          </a:prstGeom>
          <a:solidFill>
            <a:srgbClr val="FFFFFF"/>
          </a:solidFill>
          <a:ln w="6350">
            <a:solidFill>
              <a:srgbClr val="E3E1DA"/>
            </a:solidFill>
            <a:prstDash val="solid"/>
          </a:ln>
        </p:spPr>
      </p:sp>
      <p:sp>
        <p:nvSpPr>
          <p:cNvPr id="9" name="Text 5"/>
          <p:cNvSpPr/>
          <p:nvPr/>
        </p:nvSpPr>
        <p:spPr>
          <a:xfrm>
            <a:off x="792480" y="4285456"/>
            <a:ext cx="328594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Set-up</a:t>
            </a:r>
            <a:endParaRPr lang="en-US" sz="1400" dirty="0"/>
          </a:p>
        </p:txBody>
      </p:sp>
      <p:sp>
        <p:nvSpPr>
          <p:cNvPr id="10" name="Text 6"/>
          <p:cNvSpPr/>
          <p:nvPr/>
        </p:nvSpPr>
        <p:spPr>
          <a:xfrm>
            <a:off x="792480" y="4562316"/>
            <a:ext cx="3285947"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451"/>
                </a:solidFill>
                <a:latin typeface="IBM Plex Sans" pitchFamily="34" charset="0"/>
                <a:ea typeface="IBM Plex Sans" pitchFamily="34" charset="-122"/>
                <a:cs typeface="IBM Plex Sans" pitchFamily="34" charset="-120"/>
              </a:rPr>
              <a:t>58 mm sphere, six 60° sectors, 8 antennas. Healthy baseline plus 5 cases raising εr of one or more sectors by 5–17.</a:t>
            </a:r>
            <a:endParaRPr lang="en-US" sz="1300" dirty="0"/>
          </a:p>
        </p:txBody>
      </p:sp>
      <p:sp>
        <p:nvSpPr>
          <p:cNvPr id="11" name="Shape 7"/>
          <p:cNvSpPr/>
          <p:nvPr/>
        </p:nvSpPr>
        <p:spPr>
          <a:xfrm>
            <a:off x="4321175" y="4131152"/>
            <a:ext cx="3549650" cy="1477010"/>
          </a:xfrm>
          <a:prstGeom prst="roundRect">
            <a:avLst>
              <a:gd name="adj" fmla="val 6664"/>
            </a:avLst>
          </a:prstGeom>
          <a:solidFill>
            <a:srgbClr val="FFFFFF"/>
          </a:solidFill>
          <a:ln w="6350">
            <a:solidFill>
              <a:srgbClr val="E3E1DA"/>
            </a:solidFill>
            <a:prstDash val="solid"/>
          </a:ln>
        </p:spPr>
      </p:sp>
      <p:sp>
        <p:nvSpPr>
          <p:cNvPr id="12" name="Text 8"/>
          <p:cNvSpPr/>
          <p:nvPr/>
        </p:nvSpPr>
        <p:spPr>
          <a:xfrm>
            <a:off x="4500880" y="4285456"/>
            <a:ext cx="328594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Result</a:t>
            </a:r>
            <a:endParaRPr lang="en-US" sz="1400" dirty="0"/>
          </a:p>
        </p:txBody>
      </p:sp>
      <p:sp>
        <p:nvSpPr>
          <p:cNvPr id="13" name="Text 9"/>
          <p:cNvSpPr/>
          <p:nvPr/>
        </p:nvSpPr>
        <p:spPr>
          <a:xfrm>
            <a:off x="4500880" y="4562316"/>
            <a:ext cx="3285947"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451"/>
                </a:solidFill>
                <a:latin typeface="IBM Plex Sans" pitchFamily="34" charset="0"/>
                <a:ea typeface="IBM Plex Sans" pitchFamily="34" charset="-122"/>
                <a:cs typeface="IBM Plex Sans" pitchFamily="34" charset="-120"/>
              </a:rPr>
              <a:t>Every case detected. Top sector right in at most 3 of 5 cases; with realistic noise, chance level.</a:t>
            </a:r>
            <a:endParaRPr lang="en-US" sz="1300" dirty="0"/>
          </a:p>
        </p:txBody>
      </p:sp>
      <p:sp>
        <p:nvSpPr>
          <p:cNvPr id="14" name="Shape 10"/>
          <p:cNvSpPr/>
          <p:nvPr/>
        </p:nvSpPr>
        <p:spPr>
          <a:xfrm>
            <a:off x="8029575" y="4131152"/>
            <a:ext cx="3549650" cy="1477010"/>
          </a:xfrm>
          <a:prstGeom prst="roundRect">
            <a:avLst>
              <a:gd name="adj" fmla="val 6664"/>
            </a:avLst>
          </a:prstGeom>
          <a:solidFill>
            <a:srgbClr val="FFFFFF"/>
          </a:solidFill>
          <a:ln w="6350">
            <a:solidFill>
              <a:srgbClr val="E3E1DA"/>
            </a:solidFill>
            <a:prstDash val="solid"/>
          </a:ln>
        </p:spPr>
      </p:sp>
      <p:sp>
        <p:nvSpPr>
          <p:cNvPr id="15" name="Text 11"/>
          <p:cNvSpPr/>
          <p:nvPr/>
        </p:nvSpPr>
        <p:spPr>
          <a:xfrm>
            <a:off x="8209280" y="4285456"/>
            <a:ext cx="328594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Why, and the lesson</a:t>
            </a:r>
            <a:endParaRPr lang="en-US" sz="1400" dirty="0"/>
          </a:p>
        </p:txBody>
      </p:sp>
      <p:sp>
        <p:nvSpPr>
          <p:cNvPr id="16" name="Text 12"/>
          <p:cNvSpPr/>
          <p:nvPr/>
        </p:nvSpPr>
        <p:spPr>
          <a:xfrm>
            <a:off x="8209280" y="4562316"/>
            <a:ext cx="3285947" cy="91694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451"/>
                </a:solidFill>
                <a:latin typeface="IBM Plex Sans" pitchFamily="34" charset="0"/>
                <a:ea typeface="IBM Plex Sans" pitchFamily="34" charset="-122"/>
                <a:cs typeface="IBM Plex Sans" pitchFamily="34" charset="-120"/>
              </a:rPr>
              <a:t>Hits followed the hardware: uneven stand-offs (2.9–31 mm), one port ~10× stronger, one mismatched. → symmetric ring, equal stand-off, gain-free features.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WHY LAYERS, WHY CSF</a:t>
            </a:r>
            <a:endParaRPr lang="en-US" sz="1200" dirty="0"/>
          </a:p>
        </p:txBody>
      </p:sp>
      <p:sp>
        <p:nvSpPr>
          <p:cNvPr id="3" name="Text 1"/>
          <p:cNvSpPr/>
          <p:nvPr>
            <p:ph type="title"/>
          </p:nvPr>
        </p:nvSpPr>
        <p:spPr>
          <a:xfrm>
            <a:off x="609600" y="797561"/>
            <a:ext cx="11301984" cy="395208"/>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CSF wraps the whole brain, directly under the skull</a:t>
            </a:r>
            <a:endParaRPr lang="en-US" sz="2600" dirty="0"/>
          </a:p>
        </p:txBody>
      </p:sp>
      <p:sp>
        <p:nvSpPr>
          <p:cNvPr id="4" name="Shape 2"/>
          <p:cNvSpPr/>
          <p:nvPr/>
        </p:nvSpPr>
        <p:spPr>
          <a:xfrm>
            <a:off x="1920875" y="1294369"/>
            <a:ext cx="4330700" cy="3048000"/>
          </a:xfrm>
          <a:prstGeom prst="roundRect">
            <a:avLst>
              <a:gd name="adj" fmla="val 2500"/>
            </a:avLst>
          </a:prstGeom>
          <a:solidFill>
            <a:srgbClr val="FFFFFF"/>
          </a:solidFill>
          <a:ln/>
        </p:spPr>
      </p:sp>
      <p:pic>
        <p:nvPicPr>
          <p:cNvPr id="5" name="Image 0" descr="CST anatomical voxel head with the antenna patches around the upper head">    </p:cNvPr>
          <p:cNvPicPr>
            <a:picLocks noChangeAspect="1"/>
          </p:cNvPicPr>
          <p:nvPr/>
        </p:nvPicPr>
        <p:blipFill>
          <a:blip r:embed="rId1"/>
          <a:srcRect l="0" r="0" t="-71" b="-71"/>
          <a:stretch/>
        </p:blipFill>
        <p:spPr>
          <a:xfrm>
            <a:off x="1920875" y="1294369"/>
            <a:ext cx="4330700" cy="3048000"/>
          </a:xfrm>
          <a:prstGeom prst="roundRect">
            <a:avLst>
              <a:gd name="adj" fmla="val 2500"/>
            </a:avLst>
          </a:prstGeom>
        </p:spPr>
      </p:pic>
      <p:sp>
        <p:nvSpPr>
          <p:cNvPr id="6" name="Shape 3"/>
          <p:cNvSpPr/>
          <p:nvPr/>
        </p:nvSpPr>
        <p:spPr>
          <a:xfrm>
            <a:off x="6403975" y="1294369"/>
            <a:ext cx="3867150" cy="3048000"/>
          </a:xfrm>
          <a:prstGeom prst="roundRect">
            <a:avLst>
              <a:gd name="adj" fmla="val 2500"/>
            </a:avLst>
          </a:prstGeom>
          <a:solidFill>
            <a:srgbClr val="FFFFFF"/>
          </a:solidFill>
          <a:ln/>
        </p:spPr>
      </p:sp>
      <p:pic>
        <p:nvPicPr>
          <p:cNvPr id="7" name="Image 1" descr="Same CST view with skin made transparent, showing the CSF compartment in purple around the brain">    </p:cNvPr>
          <p:cNvPicPr>
            <a:picLocks noChangeAspect="1"/>
          </p:cNvPicPr>
          <p:nvPr/>
        </p:nvPicPr>
        <p:blipFill>
          <a:blip r:embed="rId2"/>
          <a:srcRect l="-9" r="-9" t="0" b="0"/>
          <a:stretch/>
        </p:blipFill>
        <p:spPr>
          <a:xfrm>
            <a:off x="6403975" y="1294369"/>
            <a:ext cx="3867150" cy="3048000"/>
          </a:xfrm>
          <a:prstGeom prst="roundRect">
            <a:avLst>
              <a:gd name="adj" fmla="val 2500"/>
            </a:avLst>
          </a:prstGeom>
        </p:spPr>
      </p:pic>
      <p:sp>
        <p:nvSpPr>
          <p:cNvPr id="8" name="Text 4"/>
          <p:cNvSpPr/>
          <p:nvPr/>
        </p:nvSpPr>
        <p:spPr>
          <a:xfrm>
            <a:off x="609600" y="4469369"/>
            <a:ext cx="554634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451"/>
                </a:solidFill>
                <a:latin typeface="IBM Plex Sans" pitchFamily="34" charset="0"/>
                <a:ea typeface="IBM Plex Sans" pitchFamily="34" charset="-122"/>
                <a:cs typeface="IBM Plex Sans" pitchFamily="34" charset="-120"/>
              </a:rPr>
              <a:t>CST voxel head: CSF (purple) is one continuous layer over the brain surface, so it is the first brain-side tissue every antenna sees.</a:t>
            </a:r>
            <a:endParaRPr lang="en-US" sz="1400" dirty="0"/>
          </a:p>
        </p:txBody>
      </p:sp>
      <p:sp>
        <p:nvSpPr>
          <p:cNvPr id="9" name="Text 5"/>
          <p:cNvSpPr/>
          <p:nvPr/>
        </p:nvSpPr>
        <p:spPr>
          <a:xfrm>
            <a:off x="6197600" y="4469369"/>
            <a:ext cx="5546344"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451"/>
                </a:solidFill>
                <a:latin typeface="IBM Plex Sans" pitchFamily="34" charset="0"/>
                <a:ea typeface="IBM Plex Sans" pitchFamily="34" charset="-122"/>
                <a:cs typeface="IBM Plex Sans" pitchFamily="34" charset="-120"/>
              </a:rPr>
              <a:t>In AD the cortex shrinks and CSF fills the space; gray matter, white matter and CSF also change εr and σ. → model the head as layers, CSF as its own layer.</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MODEL 1 · LAYERED SPHERICAL HEAD</a:t>
            </a:r>
            <a:endParaRPr lang="en-US" sz="1200" dirty="0"/>
          </a:p>
        </p:txBody>
      </p:sp>
      <p:sp>
        <p:nvSpPr>
          <p:cNvPr id="3" name="Text 1"/>
          <p:cNvSpPr/>
          <p:nvPr>
            <p:ph type="title"/>
          </p:nvPr>
        </p:nvSpPr>
        <p:spPr>
          <a:xfrm>
            <a:off x="609600" y="797561"/>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Seven concentric layers: with each stage, gray and white matter shrink and CSF expands</a:t>
            </a:r>
            <a:endParaRPr lang="en-US" sz="2600" dirty="0"/>
          </a:p>
        </p:txBody>
      </p:sp>
      <p:sp>
        <p:nvSpPr>
          <p:cNvPr id="4" name="Shape 2"/>
          <p:cNvSpPr/>
          <p:nvPr/>
        </p:nvSpPr>
        <p:spPr>
          <a:xfrm>
            <a:off x="609600" y="1664176"/>
            <a:ext cx="10668000" cy="3416300"/>
          </a:xfrm>
          <a:prstGeom prst="roundRect">
            <a:avLst>
              <a:gd name="adj" fmla="val 2230"/>
            </a:avLst>
          </a:prstGeom>
          <a:solidFill>
            <a:srgbClr val="FFFFFF"/>
          </a:solidFill>
          <a:ln/>
        </p:spPr>
      </p:sp>
      <p:pic>
        <p:nvPicPr>
          <p:cNvPr id="5" name="Image 0" descr="Cross-sections of the layered head for Normal, Mild, Moderate and Severe, with CSF thickness and tissue values per stage">    </p:cNvPr>
          <p:cNvPicPr>
            <a:picLocks noChangeAspect="1"/>
          </p:cNvPicPr>
          <p:nvPr/>
        </p:nvPicPr>
        <p:blipFill>
          <a:blip r:embed="rId1"/>
          <a:srcRect l="-12" r="-12" t="0" b="0"/>
          <a:stretch/>
        </p:blipFill>
        <p:spPr>
          <a:xfrm>
            <a:off x="609600" y="1664176"/>
            <a:ext cx="10668000" cy="3416300"/>
          </a:xfrm>
          <a:prstGeom prst="roundRect">
            <a:avLst>
              <a:gd name="adj" fmla="val 2230"/>
            </a:avLst>
          </a:prstGeom>
        </p:spPr>
      </p:pic>
      <p:sp>
        <p:nvSpPr>
          <p:cNvPr id="6" name="Text 3"/>
          <p:cNvSpPr/>
          <p:nvPr/>
        </p:nvSpPr>
        <p:spPr>
          <a:xfrm>
            <a:off x="609600" y="5207476"/>
            <a:ext cx="1130198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451"/>
                </a:solidFill>
                <a:latin typeface="IBM Plex Sans" pitchFamily="34" charset="0"/>
                <a:ea typeface="IBM Plex Sans" pitchFamily="34" charset="-122"/>
                <a:cs typeface="IBM Plex Sans" pitchFamily="34" charset="-120"/>
              </a:rPr>
              <a:t>Radii and εr / σ per stage from Shehab et al. 2025 (Tables 5–6, values at 3.24 GHz, held constant over the band). The CSF outer boundary stays at 83.5 mm, so CSF grows from 0.5 mm (Normal) to 21 mm (Severe). Every change is radially uniform.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ANTENNAS AND RING</a:t>
            </a:r>
            <a:endParaRPr lang="en-US" sz="1200" dirty="0"/>
          </a:p>
        </p:txBody>
      </p:sp>
      <p:sp>
        <p:nvSpPr>
          <p:cNvPr id="3" name="Text 1"/>
          <p:cNvSpPr/>
          <p:nvPr>
            <p:ph type="title"/>
          </p:nvPr>
        </p:nvSpPr>
        <p:spPr>
          <a:xfrm>
            <a:off x="609600" y="797561"/>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Six DGS-patch antennas with AMC reflectors, evenly spaced over the upper head</a:t>
            </a:r>
            <a:endParaRPr lang="en-US" sz="2600" dirty="0"/>
          </a:p>
        </p:txBody>
      </p:sp>
      <p:sp>
        <p:nvSpPr>
          <p:cNvPr id="4" name="Shape 2"/>
          <p:cNvSpPr/>
          <p:nvPr/>
        </p:nvSpPr>
        <p:spPr>
          <a:xfrm>
            <a:off x="609600" y="1664177"/>
            <a:ext cx="4699000" cy="4235450"/>
          </a:xfrm>
          <a:prstGeom prst="roundRect">
            <a:avLst>
              <a:gd name="adj" fmla="val 1799"/>
            </a:avLst>
          </a:prstGeom>
          <a:solidFill>
            <a:srgbClr val="FFFFFF"/>
          </a:solidFill>
          <a:ln/>
        </p:spPr>
      </p:sp>
      <p:pic>
        <p:nvPicPr>
          <p:cNvPr id="5" name="Image 0" descr="Side view: head layers with two antennas tilted over the upper head and the feed ring at z of about 48 mm">    </p:cNvPr>
          <p:cNvPicPr>
            <a:picLocks noChangeAspect="1"/>
          </p:cNvPicPr>
          <p:nvPr/>
        </p:nvPicPr>
        <p:blipFill>
          <a:blip r:embed="rId1"/>
          <a:srcRect l="0" r="0" t="-31" b="-31"/>
          <a:stretch/>
        </p:blipFill>
        <p:spPr>
          <a:xfrm>
            <a:off x="609600" y="1664177"/>
            <a:ext cx="4699000" cy="4235450"/>
          </a:xfrm>
          <a:prstGeom prst="roundRect">
            <a:avLst>
              <a:gd name="adj" fmla="val 1799"/>
            </a:avLst>
          </a:prstGeom>
        </p:spPr>
      </p:pic>
      <p:sp>
        <p:nvSpPr>
          <p:cNvPr id="6" name="Text 3"/>
          <p:cNvSpPr/>
          <p:nvPr/>
        </p:nvSpPr>
        <p:spPr>
          <a:xfrm>
            <a:off x="5613400" y="1664177"/>
            <a:ext cx="614807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Antenna:</a:t>
            </a:r>
            <a:r>
              <a:rPr lang="en-US" sz="1300" dirty="0">
                <a:solidFill>
                  <a:srgbClr val="3D4451"/>
                </a:solidFill>
                <a:latin typeface="IBM Plex Sans" pitchFamily="34" charset="0"/>
                <a:ea typeface="IBM Plex Sans" pitchFamily="34" charset="-122"/>
                <a:cs typeface="IBM Plex Sans" pitchFamily="34" charset="-120"/>
              </a:rPr>
              <a:t> DGS patch, 42 × 35 mm, on Rogers RT/duroid 6010 (εr ≈ 10.2, 1.575 mm), 3 × 3 FR4 AMC behind; resonance on the head ≈ 3.6–3.7 GHz.</a:t>
            </a:r>
            <a:endParaRPr lang="en-US" sz="1300" dirty="0"/>
          </a:p>
        </p:txBody>
      </p:sp>
      <p:sp>
        <p:nvSpPr>
          <p:cNvPr id="7" name="Text 4"/>
          <p:cNvSpPr/>
          <p:nvPr/>
        </p:nvSpPr>
        <p:spPr>
          <a:xfrm>
            <a:off x="5613400" y="2228056"/>
            <a:ext cx="614807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Ring:</a:t>
            </a:r>
            <a:r>
              <a:rPr lang="en-US" sz="1300" dirty="0">
                <a:solidFill>
                  <a:srgbClr val="3D4451"/>
                </a:solidFill>
                <a:latin typeface="IBM Plex Sans" pitchFamily="34" charset="0"/>
                <a:ea typeface="IBM Plex Sans" pitchFamily="34" charset="-122"/>
                <a:cs typeface="IBM Plex Sans" pitchFamily="34" charset="-120"/>
              </a:rPr>
              <a:t> feeds 97.6 mm from the centre at polar angle 60.5° (z ≈ 48 mm), 60° apart, ≈ 9 mm from the skin. T1 at the nose; +x is the subject's left.</a:t>
            </a:r>
            <a:endParaRPr lang="en-US" sz="1300" dirty="0"/>
          </a:p>
        </p:txBody>
      </p:sp>
      <p:sp>
        <p:nvSpPr>
          <p:cNvPr id="8" name="Text 5"/>
          <p:cNvSpPr/>
          <p:nvPr/>
        </p:nvSpPr>
        <p:spPr>
          <a:xfrm>
            <a:off x="5613400" y="2791938"/>
            <a:ext cx="614807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Paths:</a:t>
            </a:r>
            <a:r>
              <a:rPr lang="en-US" sz="1300" dirty="0">
                <a:solidFill>
                  <a:srgbClr val="3D4451"/>
                </a:solidFill>
                <a:latin typeface="IBM Plex Sans" pitchFamily="34" charset="0"/>
                <a:ea typeface="IBM Plex Sans" pitchFamily="34" charset="-122"/>
                <a:cs typeface="IBM Plex Sans" pitchFamily="34" charset="-120"/>
              </a:rPr>
              <a:t> 6 reflections and three transmission classes: neighbour (60°), second-neighbour (120°), opposite (180°).</a:t>
            </a:r>
            <a:endParaRPr lang="en-US" sz="1300" dirty="0"/>
          </a:p>
        </p:txBody>
      </p:sp>
      <p:sp>
        <p:nvSpPr>
          <p:cNvPr id="9" name="Text 6"/>
          <p:cNvSpPr/>
          <p:nvPr/>
        </p:nvSpPr>
        <p:spPr>
          <a:xfrm>
            <a:off x="5613400" y="3355817"/>
            <a:ext cx="614807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Where the signal goes:</a:t>
            </a:r>
            <a:r>
              <a:rPr lang="en-US" sz="1300" dirty="0">
                <a:solidFill>
                  <a:srgbClr val="3D4451"/>
                </a:solidFill>
                <a:latin typeface="IBM Plex Sans" pitchFamily="34" charset="0"/>
                <a:ea typeface="IBM Plex Sans" pitchFamily="34" charset="-122"/>
                <a:cs typeface="IBM Plex Sans" pitchFamily="34" charset="-120"/>
              </a:rPr>
              <a:t> the opposite path travels around the surface (group delay 3.61 ns vs 3.69 ns surface path, 6.03 ns straight through). ≈ 99% of path sensitivity is in air; inside the brain it decays over ≈ 1 cm.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MODEL 1 · S-PARAMETERS</a:t>
            </a:r>
            <a:endParaRPr lang="en-US" sz="1200" dirty="0"/>
          </a:p>
        </p:txBody>
      </p:sp>
      <p:sp>
        <p:nvSpPr>
          <p:cNvPr id="3" name="Text 1"/>
          <p:cNvSpPr/>
          <p:nvPr>
            <p:ph type="title"/>
          </p:nvPr>
        </p:nvSpPr>
        <p:spPr>
          <a:xfrm>
            <a:off x="609600" y="797561"/>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With uniform atrophy the opposite paths drop, while the neighbour paths barely move</a:t>
            </a:r>
            <a:endParaRPr lang="en-US" sz="2600" dirty="0"/>
          </a:p>
        </p:txBody>
      </p:sp>
      <p:sp>
        <p:nvSpPr>
          <p:cNvPr id="4" name="Shape 2"/>
          <p:cNvSpPr/>
          <p:nvPr/>
        </p:nvSpPr>
        <p:spPr>
          <a:xfrm>
            <a:off x="2432050" y="1664177"/>
            <a:ext cx="7327900" cy="3683000"/>
          </a:xfrm>
          <a:prstGeom prst="roundRect">
            <a:avLst>
              <a:gd name="adj" fmla="val 2069"/>
            </a:avLst>
          </a:prstGeom>
          <a:solidFill>
            <a:srgbClr val="FFFFFF"/>
          </a:solidFill>
          <a:ln/>
        </p:spPr>
      </p:sp>
      <p:pic>
        <p:nvPicPr>
          <p:cNvPr id="5" name="Image 0" descr="Ring-averaged reflection, neighbour, second-neighbour and opposite path power versus frequency for Normal, Mild, Moderate and Severe, with change from Normal below">    </p:cNvPr>
          <p:cNvPicPr>
            <a:picLocks noChangeAspect="1"/>
          </p:cNvPicPr>
          <p:nvPr/>
        </p:nvPicPr>
        <p:blipFill>
          <a:blip r:embed="rId1"/>
          <a:srcRect l="-10" r="-10" t="0" b="0"/>
          <a:stretch/>
        </p:blipFill>
        <p:spPr>
          <a:xfrm>
            <a:off x="2432050" y="1664177"/>
            <a:ext cx="7327900" cy="3683000"/>
          </a:xfrm>
          <a:prstGeom prst="roundRect">
            <a:avLst>
              <a:gd name="adj" fmla="val 2069"/>
            </a:avLst>
          </a:prstGeom>
        </p:spPr>
      </p:pic>
      <p:sp>
        <p:nvSpPr>
          <p:cNvPr id="6" name="Text 3"/>
          <p:cNvSpPr/>
          <p:nvPr/>
        </p:nvSpPr>
        <p:spPr>
          <a:xfrm>
            <a:off x="609600" y="5474177"/>
            <a:ext cx="113019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Band-mean change from Normal (3.2–4.2 GHz): opposite paths −1.4 / −1.3 / −1.6 dB for Mild / Moderate / Severe; neighbour paths +0.04 / +0.04 / −0.44 dB. Reflection changes sit in sharp swings around the 3.65 GHz notch.</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WHY NOT ABSORBED POWER?</a:t>
            </a:r>
            <a:endParaRPr lang="en-US" sz="1200" dirty="0"/>
          </a:p>
        </p:txBody>
      </p:sp>
      <p:sp>
        <p:nvSpPr>
          <p:cNvPr id="3" name="Text 1"/>
          <p:cNvSpPr/>
          <p:nvPr>
            <p:ph type="title"/>
          </p:nvPr>
        </p:nvSpPr>
        <p:spPr>
          <a:xfrm>
            <a:off x="609600" y="810261"/>
            <a:ext cx="11301984" cy="395208"/>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10·log(1 − |Sᵢᵢ|² − Σ|Sᵢⱼ|²) is, in practice, the reflection alone</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9760" y="1329928"/>
          <a:ext cx="10962640" cy="1917700"/>
        </p:xfrm>
        <a:graphic>
          <a:graphicData uri="http://schemas.openxmlformats.org/drawingml/2006/table">
            <a:tbl>
              <a:tblPr/>
              <a:tblGrid>
                <a:gridCol w="5042814"/>
                <a:gridCol w="1973275"/>
                <a:gridCol w="1973275"/>
                <a:gridCol w="1973275"/>
              </a:tblGrid>
              <a:tr h="383540">
                <a:tc>
                  <a:txBody>
                    <a:bodyPr/>
                    <a:lstStyle/>
                    <a:p>
                      <a:pPr indent="0" marL="0">
                        <a:lnSpc>
                          <a:spcPts val="1960"/>
                        </a:lnSpc>
                        <a:buNone/>
                      </a:pPr>
                      <a:r>
                        <a:rPr lang="en-US" sz="1400" b="1" dirty="0">
                          <a:solidFill>
                            <a:srgbClr val="1E2635"/>
                          </a:solidFill>
                          <a:latin typeface="IBM Plex Sans" pitchFamily="34" charset="0"/>
                          <a:ea typeface="IBM Plex Sans" pitchFamily="34" charset="-122"/>
                          <a:cs typeface="IBM Plex Sans" pitchFamily="34" charset="-120"/>
                        </a:rPr>
                        <a:t>Uniform head, band average per antenna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960"/>
                        </a:lnSpc>
                        <a:buNone/>
                      </a:pPr>
                      <a:r>
                        <a:rPr lang="en-US" sz="1400" b="1" dirty="0">
                          <a:solidFill>
                            <a:srgbClr val="1E2635"/>
                          </a:solidFill>
                          <a:latin typeface="IBM Plex Sans" pitchFamily="34" charset="0"/>
                          <a:ea typeface="IBM Plex Sans" pitchFamily="34" charset="-122"/>
                          <a:cs typeface="IBM Plex Sans" pitchFamily="34" charset="-120"/>
                        </a:rPr>
                        <a:t>Normal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960"/>
                        </a:lnSpc>
                        <a:buNone/>
                      </a:pPr>
                      <a:r>
                        <a:rPr lang="en-US" sz="1400" b="1" dirty="0">
                          <a:solidFill>
                            <a:srgbClr val="1E2635"/>
                          </a:solidFill>
                          <a:latin typeface="IBM Plex Sans" pitchFamily="34" charset="0"/>
                          <a:ea typeface="IBM Plex Sans" pitchFamily="34" charset="-122"/>
                          <a:cs typeface="IBM Plex Sans" pitchFamily="34" charset="-120"/>
                        </a:rPr>
                        <a:t>Severe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960"/>
                        </a:lnSpc>
                        <a:buNone/>
                      </a:pPr>
                      <a:r>
                        <a:rPr lang="en-US" sz="1400" b="1" dirty="0">
                          <a:solidFill>
                            <a:srgbClr val="1E2635"/>
                          </a:solidFill>
                          <a:latin typeface="IBM Plex Sans" pitchFamily="34" charset="0"/>
                          <a:ea typeface="IBM Plex Sans" pitchFamily="34" charset="-122"/>
                          <a:cs typeface="IBM Plex Sans" pitchFamily="34" charset="-120"/>
                        </a:rPr>
                        <a:t>Change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|Sᵢᵢ|², reflected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0.437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0.425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−0.012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Σ|Sᵢⱼ|², sent to the other 5 ports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4.1 × 10⁻⁴</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3.5 × 10⁻⁴</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−6 × 10⁻⁵</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1 − |Sᵢᵢ|² − Σ|Sᵢⱼ|² (dB)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−2.499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−2.407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+0.09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1 − |Sᵢᵢ|² alone (dB)</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−2.496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−2.404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+0.09</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612775" y="3390503"/>
            <a:ext cx="3549650" cy="1002030"/>
          </a:xfrm>
          <a:prstGeom prst="roundRect">
            <a:avLst>
              <a:gd name="adj" fmla="val 9823"/>
            </a:avLst>
          </a:prstGeom>
          <a:solidFill>
            <a:srgbClr val="FFFFFF"/>
          </a:solidFill>
          <a:ln w="6350">
            <a:solidFill>
              <a:srgbClr val="E3E1DA"/>
            </a:solidFill>
            <a:prstDash val="solid"/>
          </a:ln>
        </p:spPr>
        <p:txBody>
          <a:bodyPr wrap="square" lIns="150877" tIns="125477" rIns="55170" bIns="10007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The transmissions are ≈ 0.1% of the quantity, so it tracks each antenna's own matching.</a:t>
            </a:r>
            <a:endParaRPr lang="en-US" sz="1300" dirty="0"/>
          </a:p>
        </p:txBody>
      </p:sp>
      <p:sp>
        <p:nvSpPr>
          <p:cNvPr id="6" name="Text 3"/>
          <p:cNvSpPr/>
          <p:nvPr/>
        </p:nvSpPr>
        <p:spPr>
          <a:xfrm>
            <a:off x="4321175" y="3390503"/>
            <a:ext cx="3549650" cy="1002030"/>
          </a:xfrm>
          <a:prstGeom prst="roundRect">
            <a:avLst>
              <a:gd name="adj" fmla="val 9823"/>
            </a:avLst>
          </a:prstGeom>
          <a:solidFill>
            <a:srgbClr val="FFFFFF"/>
          </a:solidFill>
          <a:ln w="6350">
            <a:solidFill>
              <a:srgbClr val="E3E1DA"/>
            </a:solidFill>
            <a:prstDash val="solid"/>
          </a:ln>
        </p:spPr>
        <p:txBody>
          <a:bodyPr wrap="square" lIns="150877" tIns="125477" rIns="55170" bIns="10007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A realistic ±0.5 dB on Sᵢᵢ moves |Sᵢᵢ|² by ±0.05: about 900× the entire transmission change.</a:t>
            </a:r>
            <a:endParaRPr lang="en-US" sz="1300" dirty="0"/>
          </a:p>
        </p:txBody>
      </p:sp>
      <p:sp>
        <p:nvSpPr>
          <p:cNvPr id="7" name="Text 4"/>
          <p:cNvSpPr/>
          <p:nvPr/>
        </p:nvSpPr>
        <p:spPr>
          <a:xfrm>
            <a:off x="8029575" y="3390503"/>
            <a:ext cx="3549650" cy="1002030"/>
          </a:xfrm>
          <a:prstGeom prst="roundRect">
            <a:avLst>
              <a:gd name="adj" fmla="val 9823"/>
            </a:avLst>
          </a:prstGeom>
          <a:solidFill>
            <a:srgbClr val="FFFFFF"/>
          </a:solidFill>
          <a:ln w="6350">
            <a:solidFill>
              <a:srgbClr val="E3E1DA"/>
            </a:solidFill>
            <a:prstDash val="solid"/>
          </a:ln>
        </p:spPr>
        <p:txBody>
          <a:bodyPr wrap="square" lIns="150877" tIns="125477" rIns="55170" bIns="10007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It also counts power radiated into air, so it is not tissue absorption. Measured: it does not separate Normal from AD.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CHOOSING THE FEATURE</a:t>
            </a:r>
            <a:endParaRPr lang="en-US" sz="1200" dirty="0"/>
          </a:p>
        </p:txBody>
      </p:sp>
      <p:sp>
        <p:nvSpPr>
          <p:cNvPr id="3" name="Text 1"/>
          <p:cNvSpPr/>
          <p:nvPr>
            <p:ph type="title"/>
          </p:nvPr>
        </p:nvSpPr>
        <p:spPr>
          <a:xfrm>
            <a:off x="609600" y="797561"/>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Ratios of path classes separate Normal from AD; single powers do not</a:t>
            </a:r>
            <a:endParaRPr lang="en-US" sz="2600" dirty="0"/>
          </a:p>
        </p:txBody>
      </p:sp>
      <p:sp>
        <p:nvSpPr>
          <p:cNvPr id="4" name="Shape 2"/>
          <p:cNvSpPr/>
          <p:nvPr/>
        </p:nvSpPr>
        <p:spPr>
          <a:xfrm>
            <a:off x="609600" y="1664177"/>
            <a:ext cx="7861300" cy="3937000"/>
          </a:xfrm>
          <a:prstGeom prst="roundRect">
            <a:avLst>
              <a:gd name="adj" fmla="val 1935"/>
            </a:avLst>
          </a:prstGeom>
          <a:solidFill>
            <a:srgbClr val="FFFFFF"/>
          </a:solidFill>
          <a:ln/>
        </p:spPr>
      </p:sp>
      <p:pic>
        <p:nvPicPr>
          <p:cNvPr id="5" name="Image 0" descr="Fisher ratio for Normal versus AD by feature on a log scale: R32 34, R31 28, opposite power 15, second-neighbour 4.5, R21 4.4, neighbour 0.45, not-returned power 0.15">    </p:cNvPr>
          <p:cNvPicPr>
            <a:picLocks noChangeAspect="1"/>
          </p:cNvPicPr>
          <p:nvPr/>
        </p:nvPicPr>
        <p:blipFill>
          <a:blip r:embed="rId1"/>
          <a:srcRect l="0" r="0" t="-11" b="-11"/>
          <a:stretch/>
        </p:blipFill>
        <p:spPr>
          <a:xfrm>
            <a:off x="609600" y="1664177"/>
            <a:ext cx="7861300" cy="3937000"/>
          </a:xfrm>
          <a:prstGeom prst="roundRect">
            <a:avLst>
              <a:gd name="adj" fmla="val 1935"/>
            </a:avLst>
          </a:prstGeom>
        </p:spPr>
      </p:pic>
      <p:sp>
        <p:nvSpPr>
          <p:cNvPr id="6" name="Text 3"/>
          <p:cNvSpPr/>
          <p:nvPr/>
        </p:nvSpPr>
        <p:spPr>
          <a:xfrm>
            <a:off x="8775700" y="2581117"/>
            <a:ext cx="289090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R31 and R32 lead; not-returned power is last.</a:t>
            </a:r>
            <a:endParaRPr lang="en-US" sz="1300" dirty="0"/>
          </a:p>
        </p:txBody>
      </p:sp>
      <p:sp>
        <p:nvSpPr>
          <p:cNvPr id="7" name="Text 4"/>
          <p:cNvSpPr/>
          <p:nvPr/>
        </p:nvSpPr>
        <p:spPr>
          <a:xfrm>
            <a:off x="8775700" y="3170396"/>
            <a:ext cx="2890901" cy="9499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Bhattacharyya distance and symmetric KL give the same order (R31: 7.0 / 72; not-returned power: 0.04 / 0.31).</a:t>
            </a:r>
            <a:endParaRPr lang="en-US" sz="1300" dirty="0"/>
          </a:p>
        </p:txBody>
      </p:sp>
      <p:sp>
        <p:nvSpPr>
          <p:cNvPr id="8" name="Text 5"/>
          <p:cNvSpPr/>
          <p:nvPr/>
        </p:nvSpPr>
        <p:spPr>
          <a:xfrm>
            <a:off x="8775700" y="4221956"/>
            <a:ext cx="289090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Absolute values depend on the covariance model: read the ranking.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THE FEATURE</a:t>
            </a:r>
            <a:endParaRPr lang="en-US" sz="1200" dirty="0"/>
          </a:p>
        </p:txBody>
      </p:sp>
      <p:sp>
        <p:nvSpPr>
          <p:cNvPr id="3" name="Text 1"/>
          <p:cNvSpPr/>
          <p:nvPr>
            <p:ph type="title"/>
          </p:nvPr>
        </p:nvSpPr>
        <p:spPr>
          <a:xfrm>
            <a:off x="609600" y="810264"/>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Ratios of ring-averaged path powers: free of antenna gain by construction</a:t>
            </a:r>
            <a:endParaRPr lang="en-US" sz="2600" dirty="0"/>
          </a:p>
        </p:txBody>
      </p:sp>
      <p:sp>
        <p:nvSpPr>
          <p:cNvPr id="4" name="Shape 2"/>
          <p:cNvSpPr/>
          <p:nvPr/>
        </p:nvSpPr>
        <p:spPr>
          <a:xfrm>
            <a:off x="609600" y="1689577"/>
            <a:ext cx="5638800" cy="2482850"/>
          </a:xfrm>
          <a:prstGeom prst="roundRect">
            <a:avLst>
              <a:gd name="adj" fmla="val 4092"/>
            </a:avLst>
          </a:prstGeom>
          <a:solidFill>
            <a:srgbClr val="14213D"/>
          </a:solidFill>
          <a:ln/>
        </p:spPr>
      </p:sp>
      <p:sp>
        <p:nvSpPr>
          <p:cNvPr id="5" name="Text 3"/>
          <p:cNvSpPr/>
          <p:nvPr/>
        </p:nvSpPr>
        <p:spPr>
          <a:xfrm>
            <a:off x="863600" y="1943577"/>
            <a:ext cx="528472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86B6EF"/>
                </a:solidFill>
                <a:latin typeface="IBM Plex Sans" pitchFamily="34" charset="0"/>
                <a:ea typeface="IBM Plex Sans" pitchFamily="34" charset="-122"/>
                <a:cs typeface="IBM Plex Sans" pitchFamily="34" charset="-120"/>
              </a:rPr>
              <a:t>Definition</a:t>
            </a:r>
            <a:endParaRPr lang="en-US" sz="1500" dirty="0"/>
          </a:p>
        </p:txBody>
      </p:sp>
      <p:sp>
        <p:nvSpPr>
          <p:cNvPr id="6" name="Text 4"/>
          <p:cNvSpPr/>
          <p:nvPr/>
        </p:nvSpPr>
        <p:spPr>
          <a:xfrm>
            <a:off x="863600" y="2286477"/>
            <a:ext cx="5284724" cy="54102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7F6F2"/>
                </a:solidFill>
                <a:latin typeface="IBM Plex Sans" pitchFamily="34" charset="0"/>
                <a:ea typeface="IBM Plex Sans" pitchFamily="34" charset="-122"/>
                <a:cs typeface="IBM Plex Sans" pitchFamily="34" charset="-120"/>
              </a:rPr>
              <a:t>Cₖ = geometric mean over the six antennas t of the band-averaged |S(t+k, t)|², k = 1, 2, 3, over 3.2–4.2 GHz (201 points)</a:t>
            </a:r>
            <a:endParaRPr lang="en-US" sz="1400" dirty="0"/>
          </a:p>
        </p:txBody>
      </p:sp>
      <p:sp>
        <p:nvSpPr>
          <p:cNvPr id="7" name="Text 5"/>
          <p:cNvSpPr/>
          <p:nvPr/>
        </p:nvSpPr>
        <p:spPr>
          <a:xfrm>
            <a:off x="863600" y="2916399"/>
            <a:ext cx="5284724"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7F6F2"/>
                </a:solidFill>
                <a:latin typeface="IBM Plex Sans" pitchFamily="34" charset="0"/>
                <a:ea typeface="IBM Plex Sans" pitchFamily="34" charset="-122"/>
                <a:cs typeface="IBM Plex Sans" pitchFamily="34" charset="-120"/>
              </a:rPr>
              <a:t>R31 = 10·log₁₀(C₃ / C₁) — detection</a:t>
            </a:r>
            <a:endParaRPr lang="en-US" sz="1400" dirty="0"/>
          </a:p>
        </p:txBody>
      </p:sp>
      <p:sp>
        <p:nvSpPr>
          <p:cNvPr id="8" name="Text 6"/>
          <p:cNvSpPr/>
          <p:nvPr/>
        </p:nvSpPr>
        <p:spPr>
          <a:xfrm>
            <a:off x="863600" y="3288506"/>
            <a:ext cx="5284724"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7F6F2"/>
                </a:solidFill>
                <a:latin typeface="IBM Plex Sans" pitchFamily="34" charset="0"/>
                <a:ea typeface="IBM Plex Sans" pitchFamily="34" charset="-122"/>
                <a:cs typeface="IBM Plex Sans" pitchFamily="34" charset="-120"/>
              </a:rPr>
              <a:t>R21 = 10·log₁₀(C₂ / C₁) — staging</a:t>
            </a:r>
            <a:endParaRPr lang="en-US" sz="1400" dirty="0"/>
          </a:p>
        </p:txBody>
      </p:sp>
      <p:sp>
        <p:nvSpPr>
          <p:cNvPr id="9" name="Text 7"/>
          <p:cNvSpPr/>
          <p:nvPr/>
        </p:nvSpPr>
        <p:spPr>
          <a:xfrm>
            <a:off x="863600" y="3660620"/>
            <a:ext cx="5284724" cy="28321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7F6F2"/>
                </a:solidFill>
                <a:latin typeface="IBM Plex Sans" pitchFamily="34" charset="0"/>
                <a:ea typeface="IBM Plex Sans" pitchFamily="34" charset="-122"/>
                <a:cs typeface="IBM Plex Sans" pitchFamily="34" charset="-120"/>
              </a:rPr>
              <a:t>R32 = R31 − R21</a:t>
            </a:r>
            <a:endParaRPr lang="en-US" sz="1400" dirty="0"/>
          </a:p>
        </p:txBody>
      </p:sp>
      <p:sp>
        <p:nvSpPr>
          <p:cNvPr id="10" name="Shape 8"/>
          <p:cNvSpPr/>
          <p:nvPr/>
        </p:nvSpPr>
        <p:spPr>
          <a:xfrm>
            <a:off x="6454775" y="1692752"/>
            <a:ext cx="5124450" cy="1085850"/>
          </a:xfrm>
          <a:prstGeom prst="roundRect">
            <a:avLst>
              <a:gd name="adj" fmla="val 9064"/>
            </a:avLst>
          </a:prstGeom>
          <a:solidFill>
            <a:srgbClr val="FFFFFF"/>
          </a:solidFill>
          <a:ln w="6350">
            <a:solidFill>
              <a:srgbClr val="E3E1DA"/>
            </a:solidFill>
            <a:prstDash val="solid"/>
          </a:ln>
        </p:spPr>
      </p:sp>
      <p:sp>
        <p:nvSpPr>
          <p:cNvPr id="11" name="Text 9"/>
          <p:cNvSpPr/>
          <p:nvPr/>
        </p:nvSpPr>
        <p:spPr>
          <a:xfrm>
            <a:off x="6659880" y="1872456"/>
            <a:ext cx="4855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Gain cancels exactly</a:t>
            </a:r>
            <a:endParaRPr lang="en-US" sz="1400" dirty="0"/>
          </a:p>
        </p:txBody>
      </p:sp>
      <p:sp>
        <p:nvSpPr>
          <p:cNvPr id="12" name="Text 10"/>
          <p:cNvSpPr/>
          <p:nvPr/>
        </p:nvSpPr>
        <p:spPr>
          <a:xfrm>
            <a:off x="6659880" y="2136620"/>
            <a:ext cx="48556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A port gain gᵢ scales Sᵢⱼ by gᵢgⱼ. Each antenna appears twice in C₃ and twice in C₁, so ∏|gᵢ| cancels in every ratio.</a:t>
            </a:r>
            <a:endParaRPr lang="en-US" sz="1300" dirty="0"/>
          </a:p>
        </p:txBody>
      </p:sp>
      <p:sp>
        <p:nvSpPr>
          <p:cNvPr id="13" name="Shape 11"/>
          <p:cNvSpPr/>
          <p:nvPr/>
        </p:nvSpPr>
        <p:spPr>
          <a:xfrm>
            <a:off x="6454775" y="2911952"/>
            <a:ext cx="5124450" cy="1085850"/>
          </a:xfrm>
          <a:prstGeom prst="roundRect">
            <a:avLst>
              <a:gd name="adj" fmla="val 9064"/>
            </a:avLst>
          </a:prstGeom>
          <a:solidFill>
            <a:srgbClr val="FFFFFF"/>
          </a:solidFill>
          <a:ln w="6350">
            <a:solidFill>
              <a:srgbClr val="E3E1DA"/>
            </a:solidFill>
            <a:prstDash val="solid"/>
          </a:ln>
        </p:spPr>
      </p:sp>
      <p:sp>
        <p:nvSpPr>
          <p:cNvPr id="14" name="Text 12"/>
          <p:cNvSpPr/>
          <p:nvPr/>
        </p:nvSpPr>
        <p:spPr>
          <a:xfrm>
            <a:off x="6659880" y="3091656"/>
            <a:ext cx="4855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Not a notch tracker</a:t>
            </a:r>
            <a:endParaRPr lang="en-US" sz="1400" dirty="0"/>
          </a:p>
        </p:txBody>
      </p:sp>
      <p:sp>
        <p:nvSpPr>
          <p:cNvPr id="15" name="Text 13"/>
          <p:cNvSpPr/>
          <p:nvPr/>
        </p:nvSpPr>
        <p:spPr>
          <a:xfrm>
            <a:off x="6659880" y="3355820"/>
            <a:ext cx="48556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No resonance frequency or depth is used; reflections are not used at all. The whole band is integrated.</a:t>
            </a:r>
            <a:endParaRPr lang="en-US" sz="1300" dirty="0"/>
          </a:p>
        </p:txBody>
      </p:sp>
      <p:sp>
        <p:nvSpPr>
          <p:cNvPr id="16" name="Shape 14"/>
          <p:cNvSpPr/>
          <p:nvPr/>
        </p:nvSpPr>
        <p:spPr>
          <a:xfrm>
            <a:off x="6454775" y="4131152"/>
            <a:ext cx="5124450" cy="1085850"/>
          </a:xfrm>
          <a:prstGeom prst="roundRect">
            <a:avLst>
              <a:gd name="adj" fmla="val 9064"/>
            </a:avLst>
          </a:prstGeom>
          <a:solidFill>
            <a:srgbClr val="FFFFFF"/>
          </a:solidFill>
          <a:ln w="6350">
            <a:solidFill>
              <a:srgbClr val="E3E1DA"/>
            </a:solidFill>
            <a:prstDash val="solid"/>
          </a:ln>
        </p:spPr>
      </p:sp>
      <p:sp>
        <p:nvSpPr>
          <p:cNvPr id="17" name="Text 15"/>
          <p:cNvSpPr/>
          <p:nvPr/>
        </p:nvSpPr>
        <p:spPr>
          <a:xfrm>
            <a:off x="6659880" y="4310856"/>
            <a:ext cx="4855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Honest caveat</a:t>
            </a:r>
            <a:endParaRPr lang="en-US" sz="1400" dirty="0"/>
          </a:p>
        </p:txBody>
      </p:sp>
      <p:sp>
        <p:nvSpPr>
          <p:cNvPr id="18" name="Text 16"/>
          <p:cNvSpPr/>
          <p:nvPr/>
        </p:nvSpPr>
        <p:spPr>
          <a:xfrm>
            <a:off x="6659880" y="4575020"/>
            <a:ext cx="48556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The separation comes from 3.2–3.8 GHz, around and below the resonance; 3.8–4.2 GHz alone does not separate.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CLASSIFICATION</a:t>
            </a:r>
            <a:endParaRPr lang="en-US" sz="1200" dirty="0"/>
          </a:p>
        </p:txBody>
      </p:sp>
      <p:sp>
        <p:nvSpPr>
          <p:cNvPr id="3" name="Text 1"/>
          <p:cNvSpPr/>
          <p:nvPr>
            <p:ph type="title"/>
          </p:nvPr>
        </p:nvSpPr>
        <p:spPr>
          <a:xfrm>
            <a:off x="609600" y="797564"/>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One threshold, fitted on uniform heads, sorts every design, including unseen lobe heads</a:t>
            </a:r>
            <a:endParaRPr lang="en-US" sz="2600" dirty="0"/>
          </a:p>
        </p:txBody>
      </p:sp>
      <p:sp>
        <p:nvSpPr>
          <p:cNvPr id="4" name="Shape 2"/>
          <p:cNvSpPr/>
          <p:nvPr/>
        </p:nvSpPr>
        <p:spPr>
          <a:xfrm>
            <a:off x="1298575" y="1664177"/>
            <a:ext cx="9594850" cy="3937000"/>
          </a:xfrm>
          <a:prstGeom prst="roundRect">
            <a:avLst>
              <a:gd name="adj" fmla="val 1935"/>
            </a:avLst>
          </a:prstGeom>
          <a:solidFill>
            <a:srgbClr val="FFFFFF"/>
          </a:solidFill>
          <a:ln/>
        </p:spPr>
      </p:sp>
      <p:pic>
        <p:nvPicPr>
          <p:cNvPr id="5" name="Image 0" descr="R31 and R21 for every design: uniform v1, uniform v2 and lobe heads, by stage, with the R31 threshold band">    </p:cNvPr>
          <p:cNvPicPr>
            <a:picLocks noChangeAspect="1"/>
          </p:cNvPicPr>
          <p:nvPr/>
        </p:nvPicPr>
        <p:blipFill>
          <a:blip r:embed="rId1"/>
          <a:srcRect l="0" r="0" t="-1" b="-1"/>
          <a:stretch/>
        </p:blipFill>
        <p:spPr>
          <a:xfrm>
            <a:off x="1298575" y="1664177"/>
            <a:ext cx="9594850" cy="3937000"/>
          </a:xfrm>
          <a:prstGeom prst="roundRect">
            <a:avLst>
              <a:gd name="adj" fmla="val 1935"/>
            </a:avLst>
          </a:prstGeom>
        </p:spPr>
      </p:pic>
      <p:sp>
        <p:nvSpPr>
          <p:cNvPr id="6" name="Text 3"/>
          <p:cNvSpPr/>
          <p:nvPr/>
        </p:nvSpPr>
        <p:spPr>
          <a:xfrm>
            <a:off x="609600" y="5728177"/>
            <a:ext cx="1130198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R31: all Normal and MCI designs above τ, all AD designs below. R21 rises with stage; Mild and Moderate overlap on the uniform heads.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CLASSIFICATION SUMMARY</a:t>
            </a:r>
            <a:endParaRPr lang="en-US" sz="1200" dirty="0"/>
          </a:p>
        </p:txBody>
      </p:sp>
      <p:sp>
        <p:nvSpPr>
          <p:cNvPr id="3" name="Text 1"/>
          <p:cNvSpPr/>
          <p:nvPr>
            <p:ph type="title"/>
          </p:nvPr>
        </p:nvSpPr>
        <p:spPr>
          <a:xfrm>
            <a:off x="609600" y="810264"/>
            <a:ext cx="11301984" cy="395208"/>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What is clear and what is borderline</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9760" y="1329931"/>
          <a:ext cx="10962640" cy="2854960"/>
        </p:xfrm>
        <a:graphic>
          <a:graphicData uri="http://schemas.openxmlformats.org/drawingml/2006/table">
            <a:tbl>
              <a:tblPr/>
              <a:tblGrid>
                <a:gridCol w="3727298"/>
                <a:gridCol w="1754022"/>
                <a:gridCol w="1754022"/>
                <a:gridCol w="1754022"/>
                <a:gridCol w="1973275"/>
              </a:tblGrid>
              <a:tr h="356870">
                <a:tc>
                  <a:txBody>
                    <a:bodyPr/>
                    <a:lstStyle/>
                    <a:p>
                      <a:pPr indent="0" marL="0">
                        <a:lnSpc>
                          <a:spcPts val="1820"/>
                        </a:lnSpc>
                        <a:buNone/>
                      </a:pPr>
                      <a:r>
                        <a:rPr lang="en-US" sz="1300" b="1" dirty="0">
                          <a:solidFill>
                            <a:srgbClr val="1E2635"/>
                          </a:solidFill>
                          <a:latin typeface="IBM Plex Sans" pitchFamily="34" charset="0"/>
                          <a:ea typeface="IBM Plex Sans" pitchFamily="34" charset="-122"/>
                          <a:cs typeface="IBM Plex Sans" pitchFamily="34" charset="-120"/>
                        </a:rPr>
                        <a:t>Design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E2635"/>
                          </a:solidFill>
                          <a:latin typeface="IBM Plex Sans" pitchFamily="34" charset="0"/>
                          <a:ea typeface="IBM Plex Sans" pitchFamily="34" charset="-122"/>
                          <a:cs typeface="IBM Plex Sans" pitchFamily="34" charset="-120"/>
                        </a:rPr>
                        <a:t>Truth</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E2635"/>
                          </a:solidFill>
                          <a:latin typeface="IBM Plex Sans" pitchFamily="34" charset="0"/>
                          <a:ea typeface="IBM Plex Sans" pitchFamily="34" charset="-122"/>
                          <a:cs typeface="IBM Plex Sans" pitchFamily="34" charset="-120"/>
                        </a:rPr>
                        <a:t>Label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algn="r" indent="0" marL="0">
                        <a:lnSpc>
                          <a:spcPts val="1820"/>
                        </a:lnSpc>
                        <a:buNone/>
                      </a:pPr>
                      <a:r>
                        <a:rPr lang="en-US" sz="1300" b="1" dirty="0">
                          <a:solidFill>
                            <a:srgbClr val="1E2635"/>
                          </a:solidFill>
                          <a:latin typeface="IBM Plex Sans" pitchFamily="34" charset="0"/>
                          <a:ea typeface="IBM Plex Sans" pitchFamily="34" charset="-122"/>
                          <a:cs typeface="IBM Plex Sans" pitchFamily="34" charset="-120"/>
                        </a:rPr>
                        <a:t>Margin (dB)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820"/>
                        </a:lnSpc>
                        <a:buNone/>
                      </a:pPr>
                      <a:r>
                        <a:rPr lang="en-US" sz="1300" b="1" dirty="0">
                          <a:solidFill>
                            <a:srgbClr val="1E2635"/>
                          </a:solidFill>
                          <a:latin typeface="IBM Plex Sans" pitchFamily="34" charset="0"/>
                          <a:ea typeface="IBM Plex Sans" pitchFamily="34" charset="-122"/>
                          <a:cs typeface="IBM Plex Sans" pitchFamily="34" charset="-120"/>
                        </a:rPr>
                        <a:t>Verdict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356870">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Uniform heads (training, 9 solves)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all stages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all correct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algn="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0.50–1.15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clear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CB7"/>
                      </a:solidFill>
                      <a:prstDash val="solid"/>
                      <a:round/>
                      <a:headEnd type="none" w="med" len="med"/>
                      <a:tailEnd type="none" w="med" len="med"/>
                    </a:lnL>
                    <a:lnR w="12700" cap="flat" cmpd="sng" algn="ctr">
                      <a:solidFill>
                        <a:srgbClr val="BCBCB7"/>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BCBCB7"/>
                      </a:solidFill>
                      <a:prstDash val="solid"/>
                      <a:round/>
                      <a:headEnd type="none" w="med" len="med"/>
                      <a:tailEnd type="none" w="med" len="med"/>
                    </a:lnB>
                    <a:solidFill>
                      <a:srgbClr val="ECEBE5"/>
                    </a:solidFill>
                  </a:tcPr>
                </a:tc>
              </a:tr>
              <a:tr h="356870">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Lobe head, healthy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Normal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Normal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0.45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clear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CBCB7"/>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Lobe head, MCI (hippocampus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MCI</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Normal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0.42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as expected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Lobe head, Mild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0.47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clear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Lobe head, Moderate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0.66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clear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Lobe head, Severe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0.18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borderline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56870">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Lobe head, left lobes only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algn="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0.09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820"/>
                        </a:lnSpc>
                        <a:buNone/>
                      </a:pPr>
                      <a:r>
                        <a:rPr lang="en-US" sz="1300" dirty="0">
                          <a:solidFill>
                            <a:srgbClr val="1E2635"/>
                          </a:solidFill>
                          <a:latin typeface="IBM Plex Sans" pitchFamily="34" charset="0"/>
                          <a:ea typeface="IBM Plex Sans" pitchFamily="34" charset="-122"/>
                          <a:cs typeface="IBM Plex Sans" pitchFamily="34" charset="-120"/>
                        </a:rPr>
                        <a:t>borderline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
        <p:nvSpPr>
          <p:cNvPr id="5" name="Text 2"/>
          <p:cNvSpPr/>
          <p:nvPr/>
        </p:nvSpPr>
        <p:spPr>
          <a:xfrm>
            <a:off x="609600" y="4324592"/>
            <a:ext cx="113019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Staging labels (Normal / Mild–Moderate / Severe) come out right for the lobe designs, but with small margins; Mild vs Moderate is not separable on any feature. Margin = distance of R31 from the uncertain band τ ± 0.08 dB.</a:t>
            </a:r>
            <a:endParaRPr lang="en-US" sz="1300" dirty="0"/>
          </a:p>
        </p:txBody>
      </p:sp>
      <p:sp>
        <p:nvSpPr>
          <p:cNvPr id="6" name="Text 3"/>
          <p:cNvSpPr/>
          <p:nvPr/>
        </p:nvSpPr>
        <p:spPr>
          <a:xfrm>
            <a:off x="609600" y="4926571"/>
            <a:ext cx="1130198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6A7180"/>
                </a:solidFill>
                <a:latin typeface="IBM Plex Sans" pitchFamily="34" charset="0"/>
                <a:ea typeface="IBM Plex Sans" pitchFamily="34" charset="-122"/>
                <a:cs typeface="IBM Plex Sans" pitchFamily="34" charset="-120"/>
              </a:rPr>
              <a:t>One simulated head per stage: these show robustness to noise and calibration error, not yet generalisation across people.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84912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6B6EF"/>
                </a:solidFill>
                <a:latin typeface="IBM Plex Sans" pitchFamily="34" charset="0"/>
                <a:ea typeface="IBM Plex Sans" pitchFamily="34" charset="-122"/>
                <a:cs typeface="IBM Plex Sans" pitchFamily="34" charset="-120"/>
              </a:rPr>
              <a:t>WHY A SECOND MODEL</a:t>
            </a:r>
            <a:endParaRPr lang="en-US" sz="1300" dirty="0"/>
          </a:p>
        </p:txBody>
      </p:sp>
      <p:sp>
        <p:nvSpPr>
          <p:cNvPr id="3" name="Text 1"/>
          <p:cNvSpPr/>
          <p:nvPr>
            <p:ph type="title"/>
          </p:nvPr>
        </p:nvSpPr>
        <p:spPr>
          <a:xfrm>
            <a:off x="812800" y="2308864"/>
            <a:ext cx="11379200"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7F6F2"/>
                </a:solidFill>
                <a:latin typeface="Source Serif 4" pitchFamily="18" charset="0"/>
                <a:ea typeface="Source Serif 4" pitchFamily="18" charset="-122"/>
                <a:cs typeface="Source Serif 4" pitchFamily="18" charset="-120"/>
              </a:rPr>
              <a:t>A spherically symmetric head cannot say where</a:t>
            </a:r>
            <a:endParaRPr lang="en-US" sz="3600" dirty="0"/>
          </a:p>
        </p:txBody>
      </p:sp>
      <p:sp>
        <p:nvSpPr>
          <p:cNvPr id="4" name="Text 2"/>
          <p:cNvSpPr/>
          <p:nvPr/>
        </p:nvSpPr>
        <p:spPr>
          <a:xfrm>
            <a:off x="812800" y="3040379"/>
            <a:ext cx="10883392" cy="32766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3E3"/>
                </a:solidFill>
                <a:latin typeface="IBM Plex Sans" pitchFamily="34" charset="0"/>
                <a:ea typeface="IBM Plex Sans" pitchFamily="34" charset="-122"/>
                <a:cs typeface="IBM Plex Sans" pitchFamily="34" charset="-120"/>
              </a:rPr>
              <a:t>Every antenna sees the same uniform head, so location information is absent by construction.</a:t>
            </a:r>
            <a:endParaRPr lang="en-US" sz="1700" dirty="0"/>
          </a:p>
        </p:txBody>
      </p:sp>
      <p:sp>
        <p:nvSpPr>
          <p:cNvPr id="5" name="Text 3"/>
          <p:cNvSpPr/>
          <p:nvPr/>
        </p:nvSpPr>
        <p:spPr>
          <a:xfrm>
            <a:off x="812800" y="3571242"/>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C9D3E3"/>
                </a:solidFill>
                <a:latin typeface="IBM Plex Sans" pitchFamily="34" charset="0"/>
                <a:ea typeface="IBM Plex Sans" pitchFamily="34" charset="-122"/>
                <a:cs typeface="IBM Plex Sans" pitchFamily="34" charset="-120"/>
              </a:rPr>
              <a:t>AD atrophy is regional and follows a known lobe order (Saied et al. 2022, Table II); CSF expansion per lobe and stage is tabulated (Shehab et al. 2025, Table 7).</a:t>
            </a:r>
            <a:endParaRPr lang="en-US" sz="1700" dirty="0"/>
          </a:p>
        </p:txBody>
      </p:sp>
      <p:sp>
        <p:nvSpPr>
          <p:cNvPr id="6" name="Text 4"/>
          <p:cNvSpPr/>
          <p:nvPr/>
        </p:nvSpPr>
        <p:spPr>
          <a:xfrm>
            <a:off x="812800" y="4404364"/>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7F6F2"/>
                </a:solidFill>
                <a:latin typeface="IBM Plex Sans" pitchFamily="34" charset="0"/>
                <a:ea typeface="IBM Plex Sans" pitchFamily="34" charset="-122"/>
                <a:cs typeface="IBM Plex Sans" pitchFamily="34" charset="-120"/>
              </a:rPr>
              <a:t>So: keep every layer, cut gray and white matter into six lobe sectors, one under each antenna, and apply each stage only where the papers place it.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MODEL 2 · LOBE-SECTOR PHANTOM</a:t>
            </a:r>
            <a:endParaRPr lang="en-US" sz="1200" dirty="0"/>
          </a:p>
        </p:txBody>
      </p:sp>
      <p:sp>
        <p:nvSpPr>
          <p:cNvPr id="3" name="Text 1"/>
          <p:cNvSpPr/>
          <p:nvPr>
            <p:ph type="title"/>
          </p:nvPr>
        </p:nvSpPr>
        <p:spPr>
          <a:xfrm>
            <a:off x="609600" y="797564"/>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Six 60° lobe sectors inside the layered head, diseased where the papers put AD</a:t>
            </a:r>
            <a:endParaRPr lang="en-US" sz="2600" dirty="0"/>
          </a:p>
        </p:txBody>
      </p:sp>
      <p:sp>
        <p:nvSpPr>
          <p:cNvPr id="4" name="Shape 2"/>
          <p:cNvSpPr/>
          <p:nvPr/>
        </p:nvSpPr>
        <p:spPr>
          <a:xfrm>
            <a:off x="609600" y="1664177"/>
            <a:ext cx="10972800" cy="3073400"/>
          </a:xfrm>
          <a:prstGeom prst="roundRect">
            <a:avLst>
              <a:gd name="adj" fmla="val 2479"/>
            </a:avLst>
          </a:prstGeom>
          <a:solidFill>
            <a:srgbClr val="FFFFFF"/>
          </a:solidFill>
          <a:ln/>
        </p:spPr>
      </p:sp>
      <p:pic>
        <p:nvPicPr>
          <p:cNvPr id="5" name="Image 0" descr="Top views of the lobe phantom for Healthy, Mild, Moderate, Severe and left lobes only, with CSF expansion per lobe">    </p:cNvPr>
          <p:cNvPicPr>
            <a:picLocks noChangeAspect="1"/>
          </p:cNvPicPr>
          <p:nvPr/>
        </p:nvPicPr>
        <p:blipFill>
          <a:blip r:embed="rId1"/>
          <a:srcRect l="-44" r="-44" t="0" b="0"/>
          <a:stretch/>
        </p:blipFill>
        <p:spPr>
          <a:xfrm>
            <a:off x="609600" y="1664177"/>
            <a:ext cx="10972800" cy="3073400"/>
          </a:xfrm>
          <a:prstGeom prst="roundRect">
            <a:avLst>
              <a:gd name="adj" fmla="val 2479"/>
            </a:avLst>
          </a:prstGeom>
        </p:spPr>
      </p:pic>
      <p:sp>
        <p:nvSpPr>
          <p:cNvPr id="6" name="Text 3"/>
          <p:cNvSpPr/>
          <p:nvPr/>
        </p:nvSpPr>
        <p:spPr>
          <a:xfrm>
            <a:off x="612775" y="4867752"/>
            <a:ext cx="5403850" cy="1002030"/>
          </a:xfrm>
          <a:prstGeom prst="roundRect">
            <a:avLst>
              <a:gd name="adj" fmla="val 9823"/>
            </a:avLst>
          </a:prstGeom>
          <a:solidFill>
            <a:srgbClr val="FFFFFF"/>
          </a:solidFill>
          <a:ln w="6350">
            <a:solidFill>
              <a:srgbClr val="E3E1DA"/>
            </a:solidFill>
            <a:prstDash val="solid"/>
          </a:ln>
        </p:spPr>
        <p:txBody>
          <a:bodyPr wrap="square" lIns="150877" tIns="125477" rIns="0" bIns="10007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In lobe k the cortex retreats by eₖ: gray from 76 − eₖ to 83 − eₖ mm, white from 25 to 76 − eₖ. CSF fills every gap as one compartment, with the stage's material.</a:t>
            </a:r>
            <a:endParaRPr lang="en-US" sz="1300" dirty="0"/>
          </a:p>
        </p:txBody>
      </p:sp>
      <p:sp>
        <p:nvSpPr>
          <p:cNvPr id="7" name="Text 4"/>
          <p:cNvSpPr/>
          <p:nvPr/>
        </p:nvSpPr>
        <p:spPr>
          <a:xfrm>
            <a:off x="6175375" y="4867752"/>
            <a:ext cx="5403850" cy="1002030"/>
          </a:xfrm>
          <a:prstGeom prst="roundRect">
            <a:avLst>
              <a:gd name="adj" fmla="val 9823"/>
            </a:avLst>
          </a:prstGeom>
          <a:solidFill>
            <a:srgbClr val="FFFFFF"/>
          </a:solidFill>
          <a:ln w="6350">
            <a:solidFill>
              <a:srgbClr val="E3E1DA"/>
            </a:solidFill>
            <a:prstDash val="solid"/>
          </a:ln>
        </p:spPr>
        <p:txBody>
          <a:bodyPr wrap="square" lIns="150877" tIns="125477" rIns="0" bIns="10007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Mild: temporal and parietal lobes. Moderate: frontal added. Severe: all six. Left lobes only: a test design with disease on one side.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MODEL 2 · S-PARAMETERS</a:t>
            </a:r>
            <a:endParaRPr lang="en-US" sz="1200" dirty="0"/>
          </a:p>
        </p:txBody>
      </p:sp>
      <p:sp>
        <p:nvSpPr>
          <p:cNvPr id="3" name="Text 1"/>
          <p:cNvSpPr/>
          <p:nvPr>
            <p:ph type="title"/>
          </p:nvPr>
        </p:nvSpPr>
        <p:spPr>
          <a:xfrm>
            <a:off x="609600" y="797564"/>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Regional disease gives smaller changes, still carried by the long paths</a:t>
            </a:r>
            <a:endParaRPr lang="en-US" sz="2600" dirty="0"/>
          </a:p>
        </p:txBody>
      </p:sp>
      <p:sp>
        <p:nvSpPr>
          <p:cNvPr id="4" name="Shape 2"/>
          <p:cNvSpPr/>
          <p:nvPr/>
        </p:nvSpPr>
        <p:spPr>
          <a:xfrm>
            <a:off x="2432050" y="1664177"/>
            <a:ext cx="7327900" cy="3683000"/>
          </a:xfrm>
          <a:prstGeom prst="roundRect">
            <a:avLst>
              <a:gd name="adj" fmla="val 2069"/>
            </a:avLst>
          </a:prstGeom>
          <a:solidFill>
            <a:srgbClr val="FFFFFF"/>
          </a:solidFill>
          <a:ln/>
        </p:spPr>
      </p:sp>
      <p:pic>
        <p:nvPicPr>
          <p:cNvPr id="5" name="Image 0" descr="Ring-averaged path powers versus frequency for the lobe phantom by stage, with change from Normal below">    </p:cNvPr>
          <p:cNvPicPr>
            <a:picLocks noChangeAspect="1"/>
          </p:cNvPicPr>
          <p:nvPr/>
        </p:nvPicPr>
        <p:blipFill>
          <a:blip r:embed="rId1"/>
          <a:srcRect l="-10" r="-10" t="0" b="0"/>
          <a:stretch/>
        </p:blipFill>
        <p:spPr>
          <a:xfrm>
            <a:off x="2432050" y="1664177"/>
            <a:ext cx="7327900" cy="3683000"/>
          </a:xfrm>
          <a:prstGeom prst="roundRect">
            <a:avLst>
              <a:gd name="adj" fmla="val 2069"/>
            </a:avLst>
          </a:prstGeom>
        </p:spPr>
      </p:pic>
      <p:sp>
        <p:nvSpPr>
          <p:cNvPr id="6" name="Text 3"/>
          <p:cNvSpPr/>
          <p:nvPr/>
        </p:nvSpPr>
        <p:spPr>
          <a:xfrm>
            <a:off x="609600" y="5474177"/>
            <a:ext cx="113019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Band-mean change from Normal: opposite paths −0.60 / −0.87 / −1.11 dB, second-neighbour +0.47 / +0.49 / +0.65 dB. The 3.66 GHz reflection notch does not move with disease here: the information is in the transmissions.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IMAGING · WHAT DID NOT WORK</a:t>
            </a:r>
            <a:endParaRPr lang="en-US" sz="1200" dirty="0"/>
          </a:p>
        </p:txBody>
      </p:sp>
      <p:sp>
        <p:nvSpPr>
          <p:cNvPr id="3" name="Text 1"/>
          <p:cNvSpPr/>
          <p:nvPr>
            <p:ph type="title"/>
          </p:nvPr>
        </p:nvSpPr>
        <p:spPr>
          <a:xfrm>
            <a:off x="609600" y="797564"/>
            <a:ext cx="11582400" cy="395208"/>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Radar beamforming and a linear inversion could not image this head</a:t>
            </a:r>
            <a:endParaRPr lang="en-US" sz="2600" dirty="0"/>
          </a:p>
        </p:txBody>
      </p:sp>
      <p:sp>
        <p:nvSpPr>
          <p:cNvPr id="4" name="Shape 2"/>
          <p:cNvSpPr/>
          <p:nvPr/>
        </p:nvSpPr>
        <p:spPr>
          <a:xfrm>
            <a:off x="609600" y="1294371"/>
            <a:ext cx="6350000" cy="3810000"/>
          </a:xfrm>
          <a:prstGeom prst="roundRect">
            <a:avLst>
              <a:gd name="adj" fmla="val 2000"/>
            </a:avLst>
          </a:prstGeom>
          <a:solidFill>
            <a:srgbClr val="FFFFFF"/>
          </a:solidFill>
          <a:ln/>
        </p:spPr>
      </p:sp>
      <p:pic>
        <p:nvPicPr>
          <p:cNvPr id="5" name="Image 0" descr="DAS, DMAS and MVDR images in the antenna-ring plane for noise-only, MCI, Mild, Moderate and Severe: speckle without anatomy">    </p:cNvPr>
          <p:cNvPicPr>
            <a:picLocks noChangeAspect="1"/>
          </p:cNvPicPr>
          <p:nvPr/>
        </p:nvPicPr>
        <p:blipFill>
          <a:blip r:embed="rId1"/>
          <a:srcRect l="0" r="0" t="0" b="0"/>
          <a:stretch/>
        </p:blipFill>
        <p:spPr>
          <a:xfrm>
            <a:off x="609600" y="1294371"/>
            <a:ext cx="6350000" cy="3810000"/>
          </a:xfrm>
          <a:prstGeom prst="roundRect">
            <a:avLst>
              <a:gd name="adj" fmla="val 2000"/>
            </a:avLst>
          </a:prstGeom>
        </p:spPr>
      </p:pic>
      <p:sp>
        <p:nvSpPr>
          <p:cNvPr id="6" name="Text 3"/>
          <p:cNvSpPr/>
          <p:nvPr/>
        </p:nvSpPr>
        <p:spPr>
          <a:xfrm>
            <a:off x="7264400" y="1294371"/>
            <a:ext cx="444754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DAS / DMAS / MVDR:</a:t>
            </a:r>
            <a:r>
              <a:rPr lang="en-US" sz="1300" dirty="0">
                <a:solidFill>
                  <a:srgbClr val="3D4451"/>
                </a:solidFill>
                <a:latin typeface="IBM Plex Sans" pitchFamily="34" charset="0"/>
                <a:ea typeface="IBM Plex Sans" pitchFamily="34" charset="-122"/>
                <a:cs typeface="IBM Plex Sans" pitchFamily="34" charset="-120"/>
              </a:rPr>
              <a:t> speckle, no anatomy. MCI, which nothing else can see, gives the brightest DAS image: an artefact.</a:t>
            </a:r>
            <a:endParaRPr lang="en-US" sz="1300" dirty="0"/>
          </a:p>
        </p:txBody>
      </p:sp>
      <p:sp>
        <p:nvSpPr>
          <p:cNvPr id="7" name="Text 4"/>
          <p:cNvSpPr/>
          <p:nvPr/>
        </p:nvSpPr>
        <p:spPr>
          <a:xfrm>
            <a:off x="7264400" y="2102092"/>
            <a:ext cx="444754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Why:</a:t>
            </a:r>
            <a:r>
              <a:rPr lang="en-US" sz="1300" dirty="0">
                <a:solidFill>
                  <a:srgbClr val="3D4451"/>
                </a:solidFill>
                <a:latin typeface="IBM Plex Sans" pitchFamily="34" charset="0"/>
                <a:ea typeface="IBM Plex Sans" pitchFamily="34" charset="-122"/>
                <a:cs typeface="IBM Plex Sans" pitchFamily="34" charset="-120"/>
              </a:rPr>
              <a:t> a 1 GHz band in tissue resolves c / (2B√εr) ≈ 22 mm, from only 21 independent paths.</a:t>
            </a:r>
            <a:endParaRPr lang="en-US" sz="1300" dirty="0"/>
          </a:p>
        </p:txBody>
      </p:sp>
      <p:sp>
        <p:nvSpPr>
          <p:cNvPr id="8" name="Text 5"/>
          <p:cNvSpPr/>
          <p:nvPr/>
        </p:nvSpPr>
        <p:spPr>
          <a:xfrm>
            <a:off x="7264400" y="2678671"/>
            <a:ext cx="4447540"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Linear (Born) sector inversion:</a:t>
            </a:r>
            <a:r>
              <a:rPr lang="en-US" sz="1300" dirty="0">
                <a:solidFill>
                  <a:srgbClr val="3D4451"/>
                </a:solidFill>
                <a:latin typeface="IBM Plex Sans" pitchFamily="34" charset="0"/>
                <a:ea typeface="IBM Plex Sans" pitchFamily="34" charset="-122"/>
                <a:cs typeface="IBM Plex Sans" pitchFamily="34" charset="-120"/>
              </a:rPr>
              <a:t> model error 56–67% of the measured change, as large as the signal; sector calls flipped with the regularisation weight in 16 of 20 cases.</a:t>
            </a:r>
            <a:endParaRPr lang="en-US" sz="1300" dirty="0"/>
          </a:p>
        </p:txBody>
      </p:sp>
      <p:sp>
        <p:nvSpPr>
          <p:cNvPr id="9" name="Text 6"/>
          <p:cNvSpPr/>
          <p:nvPr/>
        </p:nvSpPr>
        <p:spPr>
          <a:xfrm>
            <a:off x="7264400" y="3486392"/>
            <a:ext cx="4447540"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Power-only left/right indices:</a:t>
            </a:r>
            <a:r>
              <a:rPr lang="en-US" sz="1300" dirty="0">
                <a:solidFill>
                  <a:srgbClr val="3D4451"/>
                </a:solidFill>
                <a:latin typeface="IBM Plex Sans" pitchFamily="34" charset="0"/>
                <a:ea typeface="IBM Plex Sans" pitchFamily="34" charset="-122"/>
                <a:cs typeface="IBM Plex Sans" pitchFamily="34" charset="-120"/>
              </a:rPr>
              <a:t> no left–right difference in the left-only head.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MODEL-FREE CHECK</a:t>
            </a:r>
            <a:endParaRPr lang="en-US" sz="1200" dirty="0"/>
          </a:p>
        </p:txBody>
      </p:sp>
      <p:sp>
        <p:nvSpPr>
          <p:cNvPr id="3" name="Text 1"/>
          <p:cNvSpPr/>
          <p:nvPr>
            <p:ph type="title"/>
          </p:nvPr>
        </p:nvSpPr>
        <p:spPr>
          <a:xfrm>
            <a:off x="609600" y="797564"/>
            <a:ext cx="11301984" cy="395208"/>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The lobe pattern is visible in the raw phase, before any model</a:t>
            </a:r>
            <a:endParaRPr lang="en-US" sz="2600" dirty="0"/>
          </a:p>
        </p:txBody>
      </p:sp>
      <p:sp>
        <p:nvSpPr>
          <p:cNvPr id="4" name="Shape 2"/>
          <p:cNvSpPr/>
          <p:nvPr/>
        </p:nvSpPr>
        <p:spPr>
          <a:xfrm>
            <a:off x="1016000" y="1294371"/>
            <a:ext cx="10160000" cy="3663950"/>
          </a:xfrm>
          <a:prstGeom prst="roundRect">
            <a:avLst>
              <a:gd name="adj" fmla="val 2080"/>
            </a:avLst>
          </a:prstGeom>
          <a:solidFill>
            <a:srgbClr val="FFFFFF"/>
          </a:solidFill>
          <a:ln/>
        </p:spPr>
      </p:sp>
      <p:pic>
        <p:nvPicPr>
          <p:cNvPr id="5" name="Image 0" descr="Top row: true cortex retreat per lobe for each design. Bottom row: phase delay of each antenna's neighbour paths from the raw data">    </p:cNvPr>
          <p:cNvPicPr>
            <a:picLocks noChangeAspect="1"/>
          </p:cNvPicPr>
          <p:nvPr/>
        </p:nvPicPr>
        <p:blipFill>
          <a:blip r:embed="rId1"/>
          <a:srcRect l="0" r="0" t="-22" b="-22"/>
          <a:stretch/>
        </p:blipFill>
        <p:spPr>
          <a:xfrm>
            <a:off x="1016000" y="1294371"/>
            <a:ext cx="10160000" cy="3663950"/>
          </a:xfrm>
          <a:prstGeom prst="roundRect">
            <a:avLst>
              <a:gd name="adj" fmla="val 2080"/>
            </a:avLst>
          </a:prstGeom>
        </p:spPr>
      </p:pic>
      <p:sp>
        <p:nvSpPr>
          <p:cNvPr id="6" name="Text 3"/>
          <p:cNvSpPr/>
          <p:nvPr/>
        </p:nvSpPr>
        <p:spPr>
          <a:xfrm>
            <a:off x="609600" y="5085321"/>
            <a:ext cx="1130198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Phase delay of each antenna's two neighbour paths vs the healthy scan, 3.30–3.65 GHz. Left lobes only: 6.4–6.8° at the left antennas vs 2.1–2.2° at the right. Moderate: frontal 11.9° vs occipital 7.6°. MCI ≤ 0.5°.</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IMAGING · METHOD</a:t>
            </a:r>
            <a:endParaRPr lang="en-US" sz="1200" dirty="0"/>
          </a:p>
        </p:txBody>
      </p:sp>
      <p:sp>
        <p:nvSpPr>
          <p:cNvPr id="3" name="Text 1"/>
          <p:cNvSpPr/>
          <p:nvPr>
            <p:ph type="title"/>
          </p:nvPr>
        </p:nvSpPr>
        <p:spPr>
          <a:xfrm>
            <a:off x="609600" y="848358"/>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Image = known healthy anatomy + a change estimated from the S-parameters</a:t>
            </a:r>
            <a:endParaRPr lang="en-US" sz="2600" dirty="0"/>
          </a:p>
        </p:txBody>
      </p:sp>
      <p:sp>
        <p:nvSpPr>
          <p:cNvPr id="4" name="Shape 2"/>
          <p:cNvSpPr/>
          <p:nvPr/>
        </p:nvSpPr>
        <p:spPr>
          <a:xfrm>
            <a:off x="612775" y="1768959"/>
            <a:ext cx="2355850" cy="2371090"/>
          </a:xfrm>
          <a:prstGeom prst="roundRect">
            <a:avLst>
              <a:gd name="adj" fmla="val 4178"/>
            </a:avLst>
          </a:prstGeom>
          <a:solidFill>
            <a:srgbClr val="FFFFFF"/>
          </a:solidFill>
          <a:ln w="6350">
            <a:solidFill>
              <a:srgbClr val="E3E1DA"/>
            </a:solidFill>
            <a:prstDash val="solid"/>
          </a:ln>
        </p:spPr>
      </p:sp>
      <p:sp>
        <p:nvSpPr>
          <p:cNvPr id="5" name="Text 3"/>
          <p:cNvSpPr/>
          <p:nvPr/>
        </p:nvSpPr>
        <p:spPr>
          <a:xfrm>
            <a:off x="792480" y="1948656"/>
            <a:ext cx="20563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1 · Baseline</a:t>
            </a:r>
            <a:endParaRPr lang="en-US" sz="1500" dirty="0"/>
          </a:p>
        </p:txBody>
      </p:sp>
      <p:sp>
        <p:nvSpPr>
          <p:cNvPr id="6" name="Text 4"/>
          <p:cNvSpPr/>
          <p:nvPr/>
        </p:nvSpPr>
        <p:spPr>
          <a:xfrm>
            <a:off x="792480" y="2253456"/>
            <a:ext cx="2056333"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51"/>
                </a:solidFill>
                <a:latin typeface="IBM Plex Sans" pitchFamily="34" charset="0"/>
                <a:ea typeface="IBM Plex Sans" pitchFamily="34" charset="-122"/>
                <a:cs typeface="IBM Plex Sans" pitchFamily="34" charset="-120"/>
              </a:rPr>
              <a:t>Healthy layered head: geometry, εr and σ of every layer. Like a patient's earlier scan.</a:t>
            </a:r>
            <a:endParaRPr lang="en-US" sz="1200" dirty="0"/>
          </a:p>
        </p:txBody>
      </p:sp>
      <p:pic>
        <p:nvPicPr>
          <p:cNvPr id="7" name="Image 0" descr="arrow-right">    </p:cNvPr>
          <p:cNvPicPr>
            <a:picLocks noChangeAspect="1"/>
          </p:cNvPicPr>
          <p:nvPr/>
        </p:nvPicPr>
        <p:blipFill>
          <a:blip r:embed="rId1"/>
          <a:srcRect l="0" r="0" t="0" b="0"/>
          <a:stretch/>
        </p:blipFill>
        <p:spPr>
          <a:xfrm>
            <a:off x="3073400" y="2878299"/>
            <a:ext cx="304800" cy="152400"/>
          </a:xfrm>
          <a:prstGeom prst="rect">
            <a:avLst/>
          </a:prstGeom>
        </p:spPr>
      </p:pic>
      <p:sp>
        <p:nvSpPr>
          <p:cNvPr id="8" name="Shape 5"/>
          <p:cNvSpPr/>
          <p:nvPr/>
        </p:nvSpPr>
        <p:spPr>
          <a:xfrm>
            <a:off x="3482975" y="1768959"/>
            <a:ext cx="2355850" cy="2371090"/>
          </a:xfrm>
          <a:prstGeom prst="roundRect">
            <a:avLst>
              <a:gd name="adj" fmla="val 4178"/>
            </a:avLst>
          </a:prstGeom>
          <a:solidFill>
            <a:srgbClr val="FFFFFF"/>
          </a:solidFill>
          <a:ln w="6350">
            <a:solidFill>
              <a:srgbClr val="E3E1DA"/>
            </a:solidFill>
            <a:prstDash val="solid"/>
          </a:ln>
        </p:spPr>
      </p:sp>
      <p:sp>
        <p:nvSpPr>
          <p:cNvPr id="9" name="Text 6"/>
          <p:cNvSpPr/>
          <p:nvPr/>
        </p:nvSpPr>
        <p:spPr>
          <a:xfrm>
            <a:off x="3662680" y="1948656"/>
            <a:ext cx="20563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2 · Forward model</a:t>
            </a:r>
            <a:endParaRPr lang="en-US" sz="1500" dirty="0"/>
          </a:p>
        </p:txBody>
      </p:sp>
      <p:sp>
        <p:nvSpPr>
          <p:cNvPr id="10" name="Text 7"/>
          <p:cNvSpPr/>
          <p:nvPr/>
        </p:nvSpPr>
        <p:spPr>
          <a:xfrm>
            <a:off x="3662680" y="2253456"/>
            <a:ext cx="2056333" cy="17322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51"/>
                </a:solidFill>
                <a:latin typeface="IBM Plex Sans" pitchFamily="34" charset="0"/>
                <a:ea typeface="IBM Plex Sans" pitchFamily="34" charset="-122"/>
                <a:cs typeface="IBM Plex Sans" pitchFamily="34" charset="-120"/>
              </a:rPr>
              <a:t>Predicts amplitude and phase of all 21 paths at 201 frequencies. Physics input: the layered-tissue reflection change ΔΓₖ(f) of each lobe. Shared across the ring's 12 symmetries; trained without the design being imaged.</a:t>
            </a:r>
            <a:endParaRPr lang="en-US" sz="1200" dirty="0"/>
          </a:p>
        </p:txBody>
      </p:sp>
      <p:pic>
        <p:nvPicPr>
          <p:cNvPr id="11" name="Image 1" descr="arrow-right">    </p:cNvPr>
          <p:cNvPicPr>
            <a:picLocks noChangeAspect="1"/>
          </p:cNvPicPr>
          <p:nvPr/>
        </p:nvPicPr>
        <p:blipFill>
          <a:blip r:embed="rId2"/>
          <a:srcRect l="0" r="0" t="0" b="0"/>
          <a:stretch/>
        </p:blipFill>
        <p:spPr>
          <a:xfrm>
            <a:off x="5943600" y="2878299"/>
            <a:ext cx="304800" cy="152400"/>
          </a:xfrm>
          <a:prstGeom prst="rect">
            <a:avLst/>
          </a:prstGeom>
        </p:spPr>
      </p:pic>
      <p:sp>
        <p:nvSpPr>
          <p:cNvPr id="12" name="Shape 8"/>
          <p:cNvSpPr/>
          <p:nvPr/>
        </p:nvSpPr>
        <p:spPr>
          <a:xfrm>
            <a:off x="6353175" y="1768959"/>
            <a:ext cx="2355850" cy="2371090"/>
          </a:xfrm>
          <a:prstGeom prst="roundRect">
            <a:avLst>
              <a:gd name="adj" fmla="val 4178"/>
            </a:avLst>
          </a:prstGeom>
          <a:solidFill>
            <a:srgbClr val="FFFFFF"/>
          </a:solidFill>
          <a:ln w="6350">
            <a:solidFill>
              <a:srgbClr val="E3E1DA"/>
            </a:solidFill>
            <a:prstDash val="solid"/>
          </a:ln>
        </p:spPr>
      </p:sp>
      <p:sp>
        <p:nvSpPr>
          <p:cNvPr id="13" name="Text 9"/>
          <p:cNvSpPr/>
          <p:nvPr/>
        </p:nvSpPr>
        <p:spPr>
          <a:xfrm>
            <a:off x="6532880" y="1948656"/>
            <a:ext cx="20563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3 · Inversion</a:t>
            </a:r>
            <a:endParaRPr lang="en-US" sz="1500" dirty="0"/>
          </a:p>
        </p:txBody>
      </p:sp>
      <p:sp>
        <p:nvSpPr>
          <p:cNvPr id="14" name="Text 10"/>
          <p:cNvSpPr/>
          <p:nvPr/>
        </p:nvSpPr>
        <p:spPr>
          <a:xfrm>
            <a:off x="6532880" y="2253456"/>
            <a:ext cx="2056333" cy="13055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51"/>
                </a:solidFill>
                <a:latin typeface="IBM Plex Sans" pitchFamily="34" charset="0"/>
                <a:ea typeface="IBM Plex Sans" pitchFamily="34" charset="-122"/>
                <a:cs typeface="IBM Plex Sans" pitchFamily="34" charset="-120"/>
              </a:rPr>
              <a:t>Unknowns: the stage (material table) and, per lobe, the cortex retreat eₖ. Bayesian sampling gives a posterior with uncertainty and a fit value χ²/dof.</a:t>
            </a:r>
            <a:endParaRPr lang="en-US" sz="1200" dirty="0"/>
          </a:p>
        </p:txBody>
      </p:sp>
      <p:pic>
        <p:nvPicPr>
          <p:cNvPr id="15" name="Image 2" descr="arrow-right">    </p:cNvPr>
          <p:cNvPicPr>
            <a:picLocks noChangeAspect="1"/>
          </p:cNvPicPr>
          <p:nvPr/>
        </p:nvPicPr>
        <p:blipFill>
          <a:blip r:embed="rId3"/>
          <a:srcRect l="0" r="0" t="0" b="0"/>
          <a:stretch/>
        </p:blipFill>
        <p:spPr>
          <a:xfrm>
            <a:off x="8813800" y="2878299"/>
            <a:ext cx="304800" cy="152400"/>
          </a:xfrm>
          <a:prstGeom prst="rect">
            <a:avLst/>
          </a:prstGeom>
        </p:spPr>
      </p:pic>
      <p:sp>
        <p:nvSpPr>
          <p:cNvPr id="16" name="Shape 11"/>
          <p:cNvSpPr/>
          <p:nvPr/>
        </p:nvSpPr>
        <p:spPr>
          <a:xfrm>
            <a:off x="9223375" y="1768959"/>
            <a:ext cx="2355850" cy="2371090"/>
          </a:xfrm>
          <a:prstGeom prst="roundRect">
            <a:avLst>
              <a:gd name="adj" fmla="val 4178"/>
            </a:avLst>
          </a:prstGeom>
          <a:solidFill>
            <a:srgbClr val="FFFFFF"/>
          </a:solidFill>
          <a:ln w="6350">
            <a:solidFill>
              <a:srgbClr val="E3E1DA"/>
            </a:solidFill>
            <a:prstDash val="solid"/>
          </a:ln>
        </p:spPr>
      </p:sp>
      <p:sp>
        <p:nvSpPr>
          <p:cNvPr id="17" name="Text 12"/>
          <p:cNvSpPr/>
          <p:nvPr/>
        </p:nvSpPr>
        <p:spPr>
          <a:xfrm>
            <a:off x="9403080" y="1948656"/>
            <a:ext cx="205633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4 · Render</a:t>
            </a:r>
            <a:endParaRPr lang="en-US" sz="1500" dirty="0"/>
          </a:p>
        </p:txBody>
      </p:sp>
      <p:sp>
        <p:nvSpPr>
          <p:cNvPr id="18" name="Text 13"/>
          <p:cNvSpPr/>
          <p:nvPr/>
        </p:nvSpPr>
        <p:spPr>
          <a:xfrm>
            <a:off x="9403080" y="2253456"/>
            <a:ext cx="2056333"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D4451"/>
                </a:solidFill>
                <a:latin typeface="IBM Plex Sans" pitchFamily="34" charset="0"/>
                <a:ea typeface="IBM Plex Sans" pitchFamily="34" charset="-122"/>
                <a:cs typeface="IBM Plex Sans" pitchFamily="34" charset="-120"/>
              </a:rPr>
              <a:t>Move the boundaries by êₖ, fill with CSF, swap materials; slice. Fade where the HFSS fields show no sensitivity.</a:t>
            </a:r>
            <a:endParaRPr lang="en-US" sz="1200" dirty="0"/>
          </a:p>
        </p:txBody>
      </p:sp>
      <p:sp>
        <p:nvSpPr>
          <p:cNvPr id="19" name="Text 14"/>
          <p:cNvSpPr/>
          <p:nvPr/>
        </p:nvSpPr>
        <p:spPr>
          <a:xfrm>
            <a:off x="609600" y="4321014"/>
            <a:ext cx="113019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4213D"/>
                </a:solidFill>
                <a:latin typeface="IBM Plex Sans" pitchFamily="34" charset="0"/>
                <a:ea typeface="IBM Plex Sans" pitchFamily="34" charset="-122"/>
                <a:cs typeface="IBM Plex Sans" pitchFamily="34" charset="-120"/>
              </a:rPr>
              <a:t>The data decide which lobes changed, how far, and the stage; the anatomy prior decides the shape (60° wedges).</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6F2"/>
        </a:solidFill>
      </p:bgPr>
    </p:bg>
    <p:spTree>
      <p:nvGrpSpPr>
        <p:cNvPr id="1" name=""/>
        <p:cNvGrpSpPr/>
        <p:nvPr/>
      </p:nvGrpSpPr>
      <p:grpSpPr>
        <a:xfrm>
          <a:off x="0" y="0"/>
          <a:ext cx="0" cy="0"/>
          <a:chOff x="0" y="0"/>
          <a:chExt cx="0" cy="0"/>
        </a:xfrm>
      </p:grpSpPr>
      <p:sp>
        <p:nvSpPr>
          <p:cNvPr id="2" name="Shape 0"/>
          <p:cNvSpPr/>
          <p:nvPr/>
        </p:nvSpPr>
        <p:spPr>
          <a:xfrm>
            <a:off x="609600" y="457200"/>
            <a:ext cx="5492750" cy="5943600"/>
          </a:xfrm>
          <a:prstGeom prst="roundRect">
            <a:avLst>
              <a:gd name="adj" fmla="val 1387"/>
            </a:avLst>
          </a:prstGeom>
          <a:solidFill>
            <a:srgbClr val="FFFFFF"/>
          </a:solidFill>
          <a:ln/>
        </p:spPr>
      </p:sp>
      <p:pic>
        <p:nvPicPr>
          <p:cNvPr id="3" name="Image 0" descr="True versus reconstructed conductivity change at heights z = 80 to 0 mm for Mild, Moderate, Severe and left lobes only">    </p:cNvPr>
          <p:cNvPicPr>
            <a:picLocks noChangeAspect="1"/>
          </p:cNvPicPr>
          <p:nvPr/>
        </p:nvPicPr>
        <p:blipFill>
          <a:blip r:embed="rId1"/>
          <a:srcRect l="-10" r="-10" t="0" b="0"/>
          <a:stretch/>
        </p:blipFill>
        <p:spPr>
          <a:xfrm>
            <a:off x="609600" y="457200"/>
            <a:ext cx="5492750" cy="5943600"/>
          </a:xfrm>
          <a:prstGeom prst="roundRect">
            <a:avLst>
              <a:gd name="adj" fmla="val 1387"/>
            </a:avLst>
          </a:prstGeom>
        </p:spPr>
      </p:pic>
      <p:sp>
        <p:nvSpPr>
          <p:cNvPr id="4" name="Text 1"/>
          <p:cNvSpPr/>
          <p:nvPr/>
        </p:nvSpPr>
        <p:spPr>
          <a:xfrm>
            <a:off x="6407150" y="1608857"/>
            <a:ext cx="533050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IMAGING · RESULTS</a:t>
            </a:r>
            <a:endParaRPr lang="en-US" sz="1200" dirty="0"/>
          </a:p>
        </p:txBody>
      </p:sp>
      <p:sp>
        <p:nvSpPr>
          <p:cNvPr id="5" name="Text 2"/>
          <p:cNvSpPr/>
          <p:nvPr>
            <p:ph type="title"/>
          </p:nvPr>
        </p:nvSpPr>
        <p:spPr>
          <a:xfrm>
            <a:off x="6407150" y="1961914"/>
            <a:ext cx="5330508"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Conductivity change, slice by slice</a:t>
            </a:r>
            <a:endParaRPr lang="en-US" sz="2600" dirty="0"/>
          </a:p>
        </p:txBody>
      </p:sp>
      <p:sp>
        <p:nvSpPr>
          <p:cNvPr id="6" name="Text 3"/>
          <p:cNvSpPr/>
          <p:nvPr/>
        </p:nvSpPr>
        <p:spPr>
          <a:xfrm>
            <a:off x="6407150" y="2841228"/>
            <a:ext cx="533050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Rows: truth, then reconstruction, for Mild, Moderate, Severe and left lobes only. Columns: heights z = 80 to 0 mm; front at top, subject's left on the right.</a:t>
            </a:r>
            <a:endParaRPr lang="en-US" sz="1300" dirty="0"/>
          </a:p>
        </p:txBody>
      </p:sp>
      <p:sp>
        <p:nvSpPr>
          <p:cNvPr id="7" name="Text 4"/>
          <p:cNvSpPr/>
          <p:nvPr/>
        </p:nvSpPr>
        <p:spPr>
          <a:xfrm>
            <a:off x="6407150" y="3674356"/>
            <a:ext cx="57848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Which lobes changed:</a:t>
            </a:r>
            <a:r>
              <a:rPr lang="en-US" sz="1300" dirty="0">
                <a:solidFill>
                  <a:srgbClr val="3D4451"/>
                </a:solidFill>
                <a:latin typeface="IBM Plex Sans" pitchFamily="34" charset="0"/>
                <a:ea typeface="IBM Plex Sans" pitchFamily="34" charset="-122"/>
                <a:cs typeface="IBM Plex Sans" pitchFamily="34" charset="-120"/>
              </a:rPr>
              <a:t> correct for Mild, Moderate and left lobes only.</a:t>
            </a:r>
            <a:endParaRPr lang="en-US" sz="1300" dirty="0"/>
          </a:p>
        </p:txBody>
      </p:sp>
      <p:sp>
        <p:nvSpPr>
          <p:cNvPr id="8" name="Text 5"/>
          <p:cNvSpPr/>
          <p:nvPr/>
        </p:nvSpPr>
        <p:spPr>
          <a:xfrm>
            <a:off x="6407150" y="4045186"/>
            <a:ext cx="5330508"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Height is not measured:</a:t>
            </a:r>
            <a:r>
              <a:rPr lang="en-US" sz="1300" dirty="0">
                <a:solidFill>
                  <a:srgbClr val="3D4451"/>
                </a:solidFill>
                <a:latin typeface="IBM Plex Sans" pitchFamily="34" charset="0"/>
                <a:ea typeface="IBM Plex Sans" pitchFamily="34" charset="-122"/>
                <a:cs typeface="IBM Plex Sans" pitchFamily="34" charset="-120"/>
              </a:rPr>
              <a:t> one antenna ring fixes which lobes changed and by how much; the vertical shape comes from the lobe model.</a:t>
            </a:r>
            <a:endParaRPr lang="en-US" sz="1300" dirty="0"/>
          </a:p>
        </p:txBody>
      </p:sp>
      <p:sp>
        <p:nvSpPr>
          <p:cNvPr id="9" name="Text 6"/>
          <p:cNvSpPr/>
          <p:nvPr/>
        </p:nvSpPr>
        <p:spPr>
          <a:xfrm>
            <a:off x="6407150" y="4647171"/>
            <a:ext cx="533050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Below z ≈ 30 mm:</a:t>
            </a:r>
            <a:r>
              <a:rPr lang="en-US" sz="1300" dirty="0">
                <a:solidFill>
                  <a:srgbClr val="3D4451"/>
                </a:solidFill>
                <a:latin typeface="IBM Plex Sans" pitchFamily="34" charset="0"/>
                <a:ea typeface="IBM Plex Sans" pitchFamily="34" charset="-122"/>
                <a:cs typeface="IBM Plex Sans" pitchFamily="34" charset="-120"/>
              </a:rPr>
              <a:t> no sensitivity, so hatched.</a:t>
            </a:r>
            <a:endParaRPr lang="en-US" sz="1300" dirty="0"/>
          </a:p>
        </p:txBody>
      </p:sp>
      <p:sp>
        <p:nvSpPr>
          <p:cNvPr id="10" name="Text 7"/>
          <p:cNvSpPr/>
          <p:nvPr/>
        </p:nvSpPr>
        <p:spPr>
          <a:xfrm>
            <a:off x="6407150" y="5018013"/>
            <a:ext cx="578485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Severe:</a:t>
            </a:r>
            <a:r>
              <a:rPr lang="en-US" sz="1300" dirty="0">
                <a:solidFill>
                  <a:srgbClr val="3D4451"/>
                </a:solidFill>
                <a:latin typeface="IBM Plex Sans" pitchFamily="34" charset="0"/>
                <a:ea typeface="IBM Plex Sans" pitchFamily="34" charset="-122"/>
                <a:cs typeface="IBM Plex Sans" pitchFamily="34" charset="-120"/>
              </a:rPr>
              <a:t> stage and lobes right, depth wrong; its fit value (2.59) flags it.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IMAGING · SCORES AT THE ANTENNA RING</a:t>
            </a:r>
            <a:endParaRPr lang="en-US" sz="1200" dirty="0"/>
          </a:p>
        </p:txBody>
      </p:sp>
      <p:sp>
        <p:nvSpPr>
          <p:cNvPr id="3" name="Text 1"/>
          <p:cNvSpPr/>
          <p:nvPr>
            <p:ph type="title"/>
          </p:nvPr>
        </p:nvSpPr>
        <p:spPr>
          <a:xfrm>
            <a:off x="609600" y="797558"/>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Truth, reconstruction and error at z = 50 mm, with per-lobe estimates</a:t>
            </a:r>
            <a:endParaRPr lang="en-US" sz="2600" dirty="0"/>
          </a:p>
        </p:txBody>
      </p:sp>
      <p:sp>
        <p:nvSpPr>
          <p:cNvPr id="4" name="Shape 2"/>
          <p:cNvSpPr/>
          <p:nvPr/>
        </p:nvSpPr>
        <p:spPr>
          <a:xfrm>
            <a:off x="609600" y="1664184"/>
            <a:ext cx="6667500" cy="4445000"/>
          </a:xfrm>
          <a:prstGeom prst="roundRect">
            <a:avLst>
              <a:gd name="adj" fmla="val 1714"/>
            </a:avLst>
          </a:prstGeom>
          <a:solidFill>
            <a:srgbClr val="FFFFFF"/>
          </a:solidFill>
          <a:ln/>
        </p:spPr>
      </p:sp>
      <p:pic>
        <p:nvPicPr>
          <p:cNvPr id="5" name="Image 0" descr="Conductivity change at z = 50 mm: truth, reconstruction and error for six designs, with per-lobe retreat estimates and 90% intervals">    </p:cNvPr>
          <p:cNvPicPr>
            <a:picLocks noChangeAspect="1"/>
          </p:cNvPicPr>
          <p:nvPr/>
        </p:nvPicPr>
        <p:blipFill>
          <a:blip r:embed="rId1"/>
          <a:srcRect l="0" r="0" t="0" b="0"/>
          <a:stretch/>
        </p:blipFill>
        <p:spPr>
          <a:xfrm>
            <a:off x="609600" y="1664184"/>
            <a:ext cx="6667500" cy="4445000"/>
          </a:xfrm>
          <a:prstGeom prst="roundRect">
            <a:avLst>
              <a:gd name="adj" fmla="val 1714"/>
            </a:avLst>
          </a:prstGeom>
        </p:spPr>
      </p:pic>
      <p:sp>
        <p:nvSpPr>
          <p:cNvPr id="6" name="Text 3"/>
          <p:cNvSpPr/>
          <p:nvPr/>
        </p:nvSpPr>
        <p:spPr>
          <a:xfrm>
            <a:off x="7531100" y="1664184"/>
            <a:ext cx="417283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Mild:</a:t>
            </a:r>
            <a:r>
              <a:rPr lang="en-US" sz="1300" dirty="0">
                <a:solidFill>
                  <a:srgbClr val="3D4451"/>
                </a:solidFill>
                <a:latin typeface="IBM Plex Sans" pitchFamily="34" charset="0"/>
                <a:ea typeface="IBM Plex Sans" pitchFamily="34" charset="-122"/>
                <a:cs typeface="IBM Plex Sans" pitchFamily="34" charset="-120"/>
              </a:rPr>
              <a:t> 5–6 of 6 lobes right; retreat error 2.6–3.0 mm.</a:t>
            </a:r>
            <a:endParaRPr lang="en-US" sz="1300" dirty="0"/>
          </a:p>
        </p:txBody>
      </p:sp>
      <p:sp>
        <p:nvSpPr>
          <p:cNvPr id="7" name="Text 4"/>
          <p:cNvSpPr/>
          <p:nvPr/>
        </p:nvSpPr>
        <p:spPr>
          <a:xfrm>
            <a:off x="7531100" y="1996914"/>
            <a:ext cx="4172839"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Moderate:</a:t>
            </a:r>
            <a:r>
              <a:rPr lang="en-US" sz="1300" dirty="0">
                <a:solidFill>
                  <a:srgbClr val="3D4451"/>
                </a:solidFill>
                <a:latin typeface="IBM Plex Sans" pitchFamily="34" charset="0"/>
                <a:ea typeface="IBM Plex Sans" pitchFamily="34" charset="-122"/>
                <a:cs typeface="IBM Plex Sans" pitchFamily="34" charset="-120"/>
              </a:rPr>
              <a:t> 6 of 6; error 1.4–3.0 mm; occipital correctly spared.</a:t>
            </a:r>
            <a:endParaRPr lang="en-US" sz="1300" dirty="0"/>
          </a:p>
        </p:txBody>
      </p:sp>
      <p:sp>
        <p:nvSpPr>
          <p:cNvPr id="8" name="Text 5"/>
          <p:cNvSpPr/>
          <p:nvPr/>
        </p:nvSpPr>
        <p:spPr>
          <a:xfrm>
            <a:off x="7531100" y="2560799"/>
            <a:ext cx="4172839"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Left lobes only:</a:t>
            </a:r>
            <a:r>
              <a:rPr lang="en-US" sz="1300" dirty="0">
                <a:solidFill>
                  <a:srgbClr val="3D4451"/>
                </a:solidFill>
                <a:latin typeface="IBM Plex Sans" pitchFamily="34" charset="0"/>
                <a:ea typeface="IBM Plex Sans" pitchFamily="34" charset="-122"/>
                <a:cs typeface="IBM Plex Sans" pitchFamily="34" charset="-120"/>
              </a:rPr>
              <a:t> 6 of 6; error 2.0 mm; left minus right +11.5 mm (truth +9.5).</a:t>
            </a:r>
            <a:endParaRPr lang="en-US" sz="1300" dirty="0"/>
          </a:p>
        </p:txBody>
      </p:sp>
      <p:sp>
        <p:nvSpPr>
          <p:cNvPr id="9" name="Text 6"/>
          <p:cNvSpPr/>
          <p:nvPr/>
        </p:nvSpPr>
        <p:spPr>
          <a:xfrm>
            <a:off x="7531100" y="3124684"/>
            <a:ext cx="4172839"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Severe:</a:t>
            </a:r>
            <a:r>
              <a:rPr lang="en-US" sz="1300" dirty="0">
                <a:solidFill>
                  <a:srgbClr val="3D4451"/>
                </a:solidFill>
                <a:latin typeface="IBM Plex Sans" pitchFamily="34" charset="0"/>
                <a:ea typeface="IBM Plex Sans" pitchFamily="34" charset="-122"/>
                <a:cs typeface="IBM Plex Sans" pitchFamily="34" charset="-120"/>
              </a:rPr>
              <a:t> 6 of 6 lobes, but retreat 12–13.5 mm too shallow.</a:t>
            </a:r>
            <a:endParaRPr lang="en-US" sz="1300" dirty="0"/>
          </a:p>
        </p:txBody>
      </p:sp>
      <p:sp>
        <p:nvSpPr>
          <p:cNvPr id="10" name="Text 7"/>
          <p:cNvSpPr/>
          <p:nvPr/>
        </p:nvSpPr>
        <p:spPr>
          <a:xfrm>
            <a:off x="7531100" y="3688556"/>
            <a:ext cx="417283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Healthy, MCI:</a:t>
            </a:r>
            <a:r>
              <a:rPr lang="en-US" sz="1300" dirty="0">
                <a:solidFill>
                  <a:srgbClr val="3D4451"/>
                </a:solidFill>
                <a:latin typeface="IBM Plex Sans" pitchFamily="34" charset="0"/>
                <a:ea typeface="IBM Plex Sans" pitchFamily="34" charset="-122"/>
                <a:cs typeface="IBM Plex Sans" pitchFamily="34" charset="-120"/>
              </a:rPr>
              <a:t> empty change map.</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IMAGING · PERMITTIVITY VIEW</a:t>
            </a:r>
            <a:endParaRPr lang="en-US" sz="1200" dirty="0"/>
          </a:p>
        </p:txBody>
      </p:sp>
      <p:sp>
        <p:nvSpPr>
          <p:cNvPr id="3" name="Text 1"/>
          <p:cNvSpPr/>
          <p:nvPr>
            <p:ph type="title"/>
          </p:nvPr>
        </p:nvSpPr>
        <p:spPr>
          <a:xfrm>
            <a:off x="609600" y="797558"/>
            <a:ext cx="11301984" cy="395208"/>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The same estimate, shown as the change in permittivity</a:t>
            </a:r>
            <a:endParaRPr lang="en-US" sz="2600" dirty="0"/>
          </a:p>
        </p:txBody>
      </p:sp>
      <p:sp>
        <p:nvSpPr>
          <p:cNvPr id="4" name="Shape 2"/>
          <p:cNvSpPr/>
          <p:nvPr/>
        </p:nvSpPr>
        <p:spPr>
          <a:xfrm>
            <a:off x="609600" y="1294371"/>
            <a:ext cx="6667500" cy="4445000"/>
          </a:xfrm>
          <a:prstGeom prst="roundRect">
            <a:avLst>
              <a:gd name="adj" fmla="val 1714"/>
            </a:avLst>
          </a:prstGeom>
          <a:solidFill>
            <a:srgbClr val="FFFFFF"/>
          </a:solidFill>
          <a:ln/>
        </p:spPr>
      </p:sp>
      <p:pic>
        <p:nvPicPr>
          <p:cNvPr id="5" name="Image 0" descr="Permittivity change at z = 50 mm: truth, reconstruction and error for six designs">    </p:cNvPr>
          <p:cNvPicPr>
            <a:picLocks noChangeAspect="1"/>
          </p:cNvPicPr>
          <p:nvPr/>
        </p:nvPicPr>
        <p:blipFill>
          <a:blip r:embed="rId1"/>
          <a:srcRect l="0" r="0" t="0" b="0"/>
          <a:stretch/>
        </p:blipFill>
        <p:spPr>
          <a:xfrm>
            <a:off x="609600" y="1294371"/>
            <a:ext cx="6667500" cy="4445000"/>
          </a:xfrm>
          <a:prstGeom prst="roundRect">
            <a:avLst>
              <a:gd name="adj" fmla="val 1714"/>
            </a:avLst>
          </a:prstGeom>
        </p:spPr>
      </p:pic>
      <p:sp>
        <p:nvSpPr>
          <p:cNvPr id="6" name="Text 3"/>
          <p:cNvSpPr/>
          <p:nvPr/>
        </p:nvSpPr>
        <p:spPr>
          <a:xfrm>
            <a:off x="7531100" y="1294371"/>
            <a:ext cx="4172839"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εr and σ maps come from one estimate (which lobes, how far, which stage), rendered with each stage's tissue values.</a:t>
            </a:r>
            <a:endParaRPr lang="en-US" sz="1300" dirty="0"/>
          </a:p>
        </p:txBody>
      </p:sp>
      <p:sp>
        <p:nvSpPr>
          <p:cNvPr id="7" name="Text 4"/>
          <p:cNvSpPr/>
          <p:nvPr/>
        </p:nvSpPr>
        <p:spPr>
          <a:xfrm>
            <a:off x="7531100" y="2089386"/>
            <a:ext cx="417283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Red: CSF (εr 55–65) replacing gray matter (εr 40–48) in Mild and Moderate.</a:t>
            </a:r>
            <a:endParaRPr lang="en-US" sz="1300" dirty="0"/>
          </a:p>
        </p:txBody>
      </p:sp>
      <p:sp>
        <p:nvSpPr>
          <p:cNvPr id="8" name="Text 5"/>
          <p:cNvSpPr/>
          <p:nvPr/>
        </p:nvSpPr>
        <p:spPr>
          <a:xfrm>
            <a:off x="7531100" y="2653271"/>
            <a:ext cx="417283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Blue in Severe: its CSF has εr 32.5, lower than the healthy tissue it replaces.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IMAGING · CONTROLS</a:t>
            </a:r>
            <a:endParaRPr lang="en-US" sz="1200" dirty="0"/>
          </a:p>
        </p:txBody>
      </p:sp>
      <p:sp>
        <p:nvSpPr>
          <p:cNvPr id="3" name="Text 1"/>
          <p:cNvSpPr/>
          <p:nvPr>
            <p:ph type="title"/>
          </p:nvPr>
        </p:nvSpPr>
        <p:spPr>
          <a:xfrm>
            <a:off x="609600" y="797558"/>
            <a:ext cx="11301984" cy="395208"/>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The images follow the data, not the drawing</a:t>
            </a:r>
            <a:endParaRPr lang="en-US" sz="2600" dirty="0"/>
          </a:p>
        </p:txBody>
      </p:sp>
      <p:sp>
        <p:nvSpPr>
          <p:cNvPr id="4" name="Shape 2"/>
          <p:cNvSpPr/>
          <p:nvPr/>
        </p:nvSpPr>
        <p:spPr>
          <a:xfrm>
            <a:off x="609600" y="1294371"/>
            <a:ext cx="6667500" cy="4445000"/>
          </a:xfrm>
          <a:prstGeom prst="roundRect">
            <a:avLst>
              <a:gd name="adj" fmla="val 1714"/>
            </a:avLst>
          </a:prstGeom>
          <a:solidFill>
            <a:srgbClr val="FFFFFF"/>
          </a:solidFill>
          <a:ln/>
        </p:spPr>
      </p:sp>
      <p:pic>
        <p:nvPicPr>
          <p:cNvPr id="5" name="Image 0" descr="Controls at z = 50 mm: prior alone, healthy, MCI, mirrored left-only data, shuffled data rejected by the fit test, and left-only against the other healthy reference">    </p:cNvPr>
          <p:cNvPicPr>
            <a:picLocks noChangeAspect="1"/>
          </p:cNvPicPr>
          <p:nvPr/>
        </p:nvPicPr>
        <p:blipFill>
          <a:blip r:embed="rId1"/>
          <a:srcRect l="0" r="0" t="0" b="0"/>
          <a:stretch/>
        </p:blipFill>
        <p:spPr>
          <a:xfrm>
            <a:off x="609600" y="1294371"/>
            <a:ext cx="6667500" cy="4445000"/>
          </a:xfrm>
          <a:prstGeom prst="roundRect">
            <a:avLst>
              <a:gd name="adj" fmla="val 1714"/>
            </a:avLst>
          </a:prstGeom>
        </p:spPr>
      </p:pic>
      <p:sp>
        <p:nvSpPr>
          <p:cNvPr id="6" name="Text 3"/>
          <p:cNvSpPr/>
          <p:nvPr/>
        </p:nvSpPr>
        <p:spPr>
          <a:xfrm>
            <a:off x="7531100" y="1294371"/>
            <a:ext cx="4172839"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No data:</a:t>
            </a:r>
            <a:r>
              <a:rPr lang="en-US" sz="1300" dirty="0">
                <a:solidFill>
                  <a:srgbClr val="3D4451"/>
                </a:solidFill>
                <a:latin typeface="IBM Plex Sans" pitchFamily="34" charset="0"/>
                <a:ea typeface="IBM Plex Sans" pitchFamily="34" charset="-122"/>
                <a:cs typeface="IBM Plex Sans" pitchFamily="34" charset="-120"/>
              </a:rPr>
              <a:t> a faint uniform ring (P = 0.38 everywhere), not a lobe pattern.</a:t>
            </a:r>
            <a:endParaRPr lang="en-US" sz="1300" dirty="0"/>
          </a:p>
        </p:txBody>
      </p:sp>
      <p:sp>
        <p:nvSpPr>
          <p:cNvPr id="7" name="Text 4"/>
          <p:cNvSpPr/>
          <p:nvPr/>
        </p:nvSpPr>
        <p:spPr>
          <a:xfrm>
            <a:off x="7531100" y="1858256"/>
            <a:ext cx="417283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Healthy, MCI:</a:t>
            </a:r>
            <a:r>
              <a:rPr lang="en-US" sz="1300" dirty="0">
                <a:solidFill>
                  <a:srgbClr val="3D4451"/>
                </a:solidFill>
                <a:latin typeface="IBM Plex Sans" pitchFamily="34" charset="0"/>
                <a:ea typeface="IBM Plex Sans" pitchFamily="34" charset="-122"/>
                <a:cs typeface="IBM Plex Sans" pitchFamily="34" charset="-120"/>
              </a:rPr>
              <a:t> empty.</a:t>
            </a:r>
            <a:endParaRPr lang="en-US" sz="1300" dirty="0"/>
          </a:p>
        </p:txBody>
      </p:sp>
      <p:sp>
        <p:nvSpPr>
          <p:cNvPr id="8" name="Text 5"/>
          <p:cNvSpPr/>
          <p:nvPr/>
        </p:nvSpPr>
        <p:spPr>
          <a:xfrm>
            <a:off x="7531100" y="2190986"/>
            <a:ext cx="4172839"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Healthy head re-simulated at two other orientations:</a:t>
            </a:r>
            <a:r>
              <a:rPr lang="en-US" sz="1300" dirty="0">
                <a:solidFill>
                  <a:srgbClr val="3D4451"/>
                </a:solidFill>
                <a:latin typeface="IBM Plex Sans" pitchFamily="34" charset="0"/>
                <a:ea typeface="IBM Plex Sans" pitchFamily="34" charset="-122"/>
                <a:cs typeface="IBM Plex Sans" pitchFamily="34" charset="-120"/>
              </a:rPr>
              <a:t> empty in 8 of 8 runs.</a:t>
            </a:r>
            <a:endParaRPr lang="en-US" sz="1300" dirty="0"/>
          </a:p>
        </p:txBody>
      </p:sp>
      <p:sp>
        <p:nvSpPr>
          <p:cNvPr id="9" name="Text 6"/>
          <p:cNvSpPr/>
          <p:nvPr/>
        </p:nvSpPr>
        <p:spPr>
          <a:xfrm>
            <a:off x="7531100" y="2754871"/>
            <a:ext cx="4172839"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Left-only data mirrored:</a:t>
            </a:r>
            <a:r>
              <a:rPr lang="en-US" sz="1300" dirty="0">
                <a:solidFill>
                  <a:srgbClr val="3D4451"/>
                </a:solidFill>
                <a:latin typeface="IBM Plex Sans" pitchFamily="34" charset="0"/>
                <a:ea typeface="IBM Plex Sans" pitchFamily="34" charset="-122"/>
                <a:cs typeface="IBM Plex Sans" pitchFamily="34" charset="-120"/>
              </a:rPr>
              <a:t> exactly the right lobes.</a:t>
            </a:r>
            <a:endParaRPr lang="en-US" sz="1300" dirty="0"/>
          </a:p>
        </p:txBody>
      </p:sp>
      <p:sp>
        <p:nvSpPr>
          <p:cNvPr id="10" name="Text 7"/>
          <p:cNvSpPr/>
          <p:nvPr/>
        </p:nvSpPr>
        <p:spPr>
          <a:xfrm>
            <a:off x="7531100" y="3087613"/>
            <a:ext cx="4172839"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3D4451"/>
                </a:solidFill>
                <a:latin typeface="IBM Plex Sans" pitchFamily="34" charset="0"/>
                <a:ea typeface="IBM Plex Sans" pitchFamily="34" charset="-122"/>
                <a:cs typeface="IBM Plex Sans" pitchFamily="34" charset="-120"/>
              </a:rPr>
              <a:t>Paths shuffled:</a:t>
            </a:r>
            <a:r>
              <a:rPr lang="en-US" sz="1300" dirty="0">
                <a:solidFill>
                  <a:srgbClr val="3D4451"/>
                </a:solidFill>
                <a:latin typeface="IBM Plex Sans" pitchFamily="34" charset="0"/>
                <a:ea typeface="IBM Plex Sans" pitchFamily="34" charset="-122"/>
                <a:cs typeface="IBM Plex Sans" pitchFamily="34" charset="-120"/>
              </a:rPr>
              <a:t> a lobe-like image, but the fit rejects it (χ²/dof 22.9 vs 0.3–1.0 for real data). Every panel prints its fit value.</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IMAGING · ROBUSTNESS</a:t>
            </a:r>
            <a:endParaRPr lang="en-US" sz="1200" dirty="0"/>
          </a:p>
        </p:txBody>
      </p:sp>
      <p:sp>
        <p:nvSpPr>
          <p:cNvPr id="3" name="Text 1"/>
          <p:cNvSpPr/>
          <p:nvPr>
            <p:ph type="title"/>
          </p:nvPr>
        </p:nvSpPr>
        <p:spPr>
          <a:xfrm>
            <a:off x="609600" y="797558"/>
            <a:ext cx="11301984" cy="765016"/>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Not a look-up of a similar design, and stable under measurement noise</a:t>
            </a:r>
            <a:endParaRPr lang="en-US" sz="2600" dirty="0"/>
          </a:p>
        </p:txBody>
      </p:sp>
      <p:sp>
        <p:nvSpPr>
          <p:cNvPr id="4" name="Shape 2"/>
          <p:cNvSpPr/>
          <p:nvPr/>
        </p:nvSpPr>
        <p:spPr>
          <a:xfrm>
            <a:off x="609600" y="1664184"/>
            <a:ext cx="3651250" cy="3556000"/>
          </a:xfrm>
          <a:prstGeom prst="roundRect">
            <a:avLst>
              <a:gd name="adj" fmla="val 2143"/>
            </a:avLst>
          </a:prstGeom>
          <a:solidFill>
            <a:srgbClr val="FFFFFF"/>
          </a:solidFill>
          <a:ln/>
        </p:spPr>
      </p:sp>
      <p:pic>
        <p:nvPicPr>
          <p:cNvPr id="5" name="Image 0" descr="Leave-one-stage-out reconstructions: with no Mild-material design in training, left-only is still the two left lobes">    </p:cNvPr>
          <p:cNvPicPr>
            <a:picLocks noChangeAspect="1"/>
          </p:cNvPicPr>
          <p:nvPr/>
        </p:nvPicPr>
        <p:blipFill>
          <a:blip r:embed="rId1"/>
          <a:srcRect l="-45" r="-45" t="0" b="0"/>
          <a:stretch/>
        </p:blipFill>
        <p:spPr>
          <a:xfrm>
            <a:off x="609600" y="1664184"/>
            <a:ext cx="3651250" cy="3556000"/>
          </a:xfrm>
          <a:prstGeom prst="roundRect">
            <a:avLst>
              <a:gd name="adj" fmla="val 2143"/>
            </a:avLst>
          </a:prstGeom>
        </p:spPr>
      </p:pic>
      <p:sp>
        <p:nvSpPr>
          <p:cNvPr id="6" name="Shape 3"/>
          <p:cNvSpPr/>
          <p:nvPr/>
        </p:nvSpPr>
        <p:spPr>
          <a:xfrm>
            <a:off x="4413250" y="1664184"/>
            <a:ext cx="4324350" cy="3556000"/>
          </a:xfrm>
          <a:prstGeom prst="roundRect">
            <a:avLst>
              <a:gd name="adj" fmla="val 2143"/>
            </a:avLst>
          </a:prstGeom>
          <a:solidFill>
            <a:srgbClr val="FFFFFF"/>
          </a:solidFill>
          <a:ln/>
        </p:spPr>
      </p:sp>
      <p:pic>
        <p:nvPicPr>
          <p:cNvPr id="7" name="Image 1" descr="Reconstructions under measurement noise and per-antenna drift for several designs">    </p:cNvPr>
          <p:cNvPicPr>
            <a:picLocks noChangeAspect="1"/>
          </p:cNvPicPr>
          <p:nvPr/>
        </p:nvPicPr>
        <p:blipFill>
          <a:blip r:embed="rId2"/>
          <a:srcRect l="0" r="0" t="-13" b="-13"/>
          <a:stretch/>
        </p:blipFill>
        <p:spPr>
          <a:xfrm>
            <a:off x="4413250" y="1664184"/>
            <a:ext cx="4324350" cy="3556000"/>
          </a:xfrm>
          <a:prstGeom prst="roundRect">
            <a:avLst>
              <a:gd name="adj" fmla="val 2143"/>
            </a:avLst>
          </a:prstGeom>
        </p:spPr>
      </p:pic>
      <p:sp>
        <p:nvSpPr>
          <p:cNvPr id="8" name="Text 4"/>
          <p:cNvSpPr/>
          <p:nvPr/>
        </p:nvSpPr>
        <p:spPr>
          <a:xfrm>
            <a:off x="8890000" y="1664184"/>
            <a:ext cx="277317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451"/>
                </a:solidFill>
                <a:latin typeface="IBM Plex Sans" pitchFamily="34" charset="0"/>
                <a:ea typeface="IBM Plex Sans" pitchFamily="34" charset="-122"/>
                <a:cs typeface="IBM Plex Sans" pitchFamily="34" charset="-120"/>
              </a:rPr>
              <a:t>No Mild-material design in training:</a:t>
            </a:r>
            <a:r>
              <a:rPr lang="en-US" sz="1200" dirty="0">
                <a:solidFill>
                  <a:srgbClr val="3D4451"/>
                </a:solidFill>
                <a:latin typeface="IBM Plex Sans" pitchFamily="34" charset="0"/>
                <a:ea typeface="IBM Plex Sans" pitchFamily="34" charset="-122"/>
                <a:cs typeface="IBM Plex Sans" pitchFamily="34" charset="-120"/>
              </a:rPr>
              <a:t> left-only still exactly the two left lobes.</a:t>
            </a:r>
            <a:endParaRPr lang="en-US" sz="1200" dirty="0"/>
          </a:p>
        </p:txBody>
      </p:sp>
      <p:sp>
        <p:nvSpPr>
          <p:cNvPr id="9" name="Text 5"/>
          <p:cNvSpPr/>
          <p:nvPr/>
        </p:nvSpPr>
        <p:spPr>
          <a:xfrm>
            <a:off x="8890000" y="2192499"/>
            <a:ext cx="2773172" cy="66548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451"/>
                </a:solidFill>
                <a:latin typeface="IBM Plex Sans" pitchFamily="34" charset="0"/>
                <a:ea typeface="IBM Plex Sans" pitchFamily="34" charset="-122"/>
                <a:cs typeface="IBM Plex Sans" pitchFamily="34" charset="-120"/>
              </a:rPr>
              <a:t>±0.5 dB / ±5° on both scans:</a:t>
            </a:r>
            <a:r>
              <a:rPr lang="en-US" sz="1200" dirty="0">
                <a:solidFill>
                  <a:srgbClr val="3D4451"/>
                </a:solidFill>
                <a:latin typeface="IBM Plex Sans" pitchFamily="34" charset="0"/>
                <a:ea typeface="IBM Plex Sans" pitchFamily="34" charset="-122"/>
                <a:cs typeface="IBM Plex Sans" pitchFamily="34" charset="-120"/>
              </a:rPr>
              <a:t> left side in 100% of draws, exact lobes 75%, never right.</a:t>
            </a:r>
            <a:endParaRPr lang="en-US" sz="1200" dirty="0"/>
          </a:p>
        </p:txBody>
      </p:sp>
      <p:sp>
        <p:nvSpPr>
          <p:cNvPr id="10" name="Text 6"/>
          <p:cNvSpPr/>
          <p:nvPr/>
        </p:nvSpPr>
        <p:spPr>
          <a:xfrm>
            <a:off x="8890000" y="2934184"/>
            <a:ext cx="2773172"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D4451"/>
                </a:solidFill>
                <a:latin typeface="IBM Plex Sans" pitchFamily="34" charset="0"/>
                <a:ea typeface="IBM Plex Sans" pitchFamily="34" charset="-122"/>
                <a:cs typeface="IBM Plex Sans" pitchFamily="34" charset="-120"/>
              </a:rPr>
              <a:t>Antenna drift between scans:</a:t>
            </a:r>
            <a:r>
              <a:rPr lang="en-US" sz="1200" dirty="0">
                <a:solidFill>
                  <a:srgbClr val="3D4451"/>
                </a:solidFill>
                <a:latin typeface="IBM Plex Sans" pitchFamily="34" charset="0"/>
                <a:ea typeface="IBM Plex Sans" pitchFamily="34" charset="-122"/>
                <a:cs typeface="IBM Plex Sans" pitchFamily="34" charset="-120"/>
              </a:rPr>
              <a:t> 17% exact unless gains are removed (92%).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06400"/>
            <a:ext cx="11301984" cy="232648"/>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2A78D6"/>
                </a:solidFill>
                <a:latin typeface="IBM Plex Sans" pitchFamily="34" charset="0"/>
                <a:ea typeface="IBM Plex Sans" pitchFamily="34" charset="-122"/>
                <a:cs typeface="IBM Plex Sans" pitchFamily="34" charset="-120"/>
              </a:rPr>
              <a:t>BLIND TEST · SCORED</a:t>
            </a:r>
            <a:endParaRPr lang="en-US" sz="1196" dirty="0"/>
          </a:p>
        </p:txBody>
      </p:sp>
      <p:sp>
        <p:nvSpPr>
          <p:cNvPr id="3" name="Text 1"/>
          <p:cNvSpPr/>
          <p:nvPr>
            <p:ph type="title"/>
          </p:nvPr>
        </p:nvSpPr>
        <p:spPr>
          <a:xfrm>
            <a:off x="609600" y="727956"/>
            <a:ext cx="11301984" cy="716280"/>
          </a:xfrm>
          <a:prstGeom prst="rect">
            <a:avLst/>
          </a:prstGeom>
          <a:noFill/>
          <a:ln/>
        </p:spPr>
        <p:txBody>
          <a:bodyPr wrap="square" lIns="0" tIns="0" rIns="0" bIns="0" rtlCol="0" anchor="t">
            <a:normAutofit/>
          </a:bodyPr>
          <a:lstStyle/>
          <a:p>
            <a:pPr algn="l" indent="0" marL="0">
              <a:lnSpc>
                <a:spcPts val="2730"/>
              </a:lnSpc>
              <a:buNone/>
            </a:pPr>
            <a:r>
              <a:rPr lang="en-US" sz="2438" b="1" i="0" dirty="0">
                <a:solidFill>
                  <a:srgbClr val="14213D"/>
                </a:solidFill>
                <a:latin typeface="Source Serif 4" pitchFamily="18" charset="0"/>
                <a:ea typeface="Source Serif 4" pitchFamily="18" charset="-122"/>
                <a:cs typeface="Source Serif 4" pitchFamily="18" charset="-120"/>
              </a:rPr>
              <a:t>A pattern never simulated before: the image found both lobes and the stage</a:t>
            </a:r>
            <a:endParaRPr lang="en-US" sz="2438" dirty="0"/>
          </a:p>
        </p:txBody>
      </p:sp>
      <p:sp>
        <p:nvSpPr>
          <p:cNvPr id="4" name="Shape 2"/>
          <p:cNvSpPr/>
          <p:nvPr/>
        </p:nvSpPr>
        <p:spPr>
          <a:xfrm>
            <a:off x="609600" y="1533128"/>
            <a:ext cx="10972800" cy="3947716"/>
          </a:xfrm>
          <a:prstGeom prst="roundRect">
            <a:avLst>
              <a:gd name="adj" fmla="val 1930"/>
            </a:avLst>
          </a:prstGeom>
          <a:solidFill>
            <a:srgbClr val="FFFFFF"/>
          </a:solidFill>
          <a:ln/>
        </p:spPr>
      </p:sp>
      <p:pic>
        <p:nvPicPr>
          <p:cNvPr id="5" name="Image 0" descr="Blind test: (a) true design with left temporal 11.5 mm and right parietal 7.5 mm retreat; (b) blind reconstruction at z = 50 mm showing change only in those two lobes; (c) per-lobe probability 1.00 for the two true lobes and 0.00 elsewhere, with estimates 13.0 and 7.0 mm against true 11.5 and 7.5 mm">    </p:cNvPr>
          <p:cNvPicPr>
            <a:picLocks noChangeAspect="1"/>
          </p:cNvPicPr>
          <p:nvPr/>
        </p:nvPicPr>
        <p:blipFill>
          <a:blip r:embed="rId1"/>
          <a:stretch>
            <a:fillRect/>
          </a:stretch>
        </p:blipFill>
        <p:spPr>
          <a:xfrm>
            <a:off x="1474357" y="1533128"/>
            <a:ext cx="9243286" cy="3947716"/>
          </a:xfrm>
          <a:prstGeom prst="rect">
            <a:avLst/>
          </a:prstGeom>
        </p:spPr>
      </p:pic>
      <p:sp>
        <p:nvSpPr>
          <p:cNvPr id="6" name="Text 3"/>
          <p:cNvSpPr/>
          <p:nvPr/>
        </p:nvSpPr>
        <p:spPr>
          <a:xfrm>
            <a:off x="612775" y="5598319"/>
            <a:ext cx="3549650" cy="850106"/>
          </a:xfrm>
          <a:prstGeom prst="roundRect">
            <a:avLst>
              <a:gd name="adj" fmla="val 10084"/>
            </a:avLst>
          </a:prstGeom>
          <a:solidFill>
            <a:srgbClr val="FFFFFF"/>
          </a:solidFill>
          <a:ln w="6350">
            <a:solidFill>
              <a:srgbClr val="E3E1DA"/>
            </a:solidFill>
            <a:prstDash val="solid"/>
          </a:ln>
        </p:spPr>
        <p:txBody>
          <a:bodyPr wrap="square" lIns="129197" tIns="91097" rIns="31966" bIns="65697" rtlCol="0" anchor="t">
            <a:normAutofit/>
          </a:bodyPr>
          <a:lstStyle/>
          <a:p>
            <a:pPr algn="l" indent="0" marL="0">
              <a:lnSpc>
                <a:spcPts val="1688"/>
              </a:lnSpc>
              <a:buNone/>
            </a:pPr>
            <a:r>
              <a:rPr lang="en-US" sz="1250" b="1" dirty="0">
                <a:solidFill>
                  <a:srgbClr val="14213D"/>
                </a:solidFill>
                <a:latin typeface="IBM Plex Sans" pitchFamily="34" charset="0"/>
                <a:ea typeface="IBM Plex Sans" pitchFamily="34" charset="-122"/>
                <a:cs typeface="IBM Plex Sans" pitchFamily="34" charset="-120"/>
              </a:rPr>
              <a:t>Lobes:</a:t>
            </a:r>
            <a:r>
              <a:rPr lang="en-US" sz="1250" dirty="0">
                <a:solidFill>
                  <a:srgbClr val="3D4451"/>
                </a:solidFill>
                <a:latin typeface="IBM Plex Sans" pitchFamily="34" charset="0"/>
                <a:ea typeface="IBM Plex Sans" pitchFamily="34" charset="-122"/>
                <a:cs typeface="IBM Plex Sans" pitchFamily="34" charset="-120"/>
              </a:rPr>
              <a:t> the two true lobes and nothing else; guessing this pair has a 1-in-63 chance.</a:t>
            </a:r>
            <a:endParaRPr lang="en-US" sz="1250" dirty="0"/>
          </a:p>
        </p:txBody>
      </p:sp>
      <p:sp>
        <p:nvSpPr>
          <p:cNvPr id="7" name="Text 4"/>
          <p:cNvSpPr/>
          <p:nvPr/>
        </p:nvSpPr>
        <p:spPr>
          <a:xfrm>
            <a:off x="4321175" y="5598319"/>
            <a:ext cx="3549650" cy="850106"/>
          </a:xfrm>
          <a:prstGeom prst="roundRect">
            <a:avLst>
              <a:gd name="adj" fmla="val 10084"/>
            </a:avLst>
          </a:prstGeom>
          <a:solidFill>
            <a:srgbClr val="FFFFFF"/>
          </a:solidFill>
          <a:ln w="6350">
            <a:solidFill>
              <a:srgbClr val="E3E1DA"/>
            </a:solidFill>
            <a:prstDash val="solid"/>
          </a:ln>
        </p:spPr>
        <p:txBody>
          <a:bodyPr wrap="square" lIns="129197" tIns="91097" rIns="31966" bIns="65697" rtlCol="0" anchor="t">
            <a:normAutofit/>
          </a:bodyPr>
          <a:lstStyle/>
          <a:p>
            <a:pPr algn="l" indent="0" marL="0">
              <a:lnSpc>
                <a:spcPts val="1688"/>
              </a:lnSpc>
              <a:buNone/>
            </a:pPr>
            <a:r>
              <a:rPr lang="en-US" sz="1250" b="1" dirty="0">
                <a:solidFill>
                  <a:srgbClr val="14213D"/>
                </a:solidFill>
                <a:latin typeface="IBM Plex Sans" pitchFamily="34" charset="0"/>
                <a:ea typeface="IBM Plex Sans" pitchFamily="34" charset="-122"/>
                <a:cs typeface="IBM Plex Sans" pitchFamily="34" charset="-120"/>
              </a:rPr>
              <a:t>Stage:</a:t>
            </a:r>
            <a:r>
              <a:rPr lang="en-US" sz="1250" dirty="0">
                <a:solidFill>
                  <a:srgbClr val="3D4451"/>
                </a:solidFill>
                <a:latin typeface="IBM Plex Sans" pitchFamily="34" charset="0"/>
                <a:ea typeface="IBM Plex Sans" pitchFamily="34" charset="-122"/>
                <a:cs typeface="IBM Plex Sans" pitchFamily="34" charset="-120"/>
              </a:rPr>
              <a:t> Mild, correct. </a:t>
            </a:r>
            <a:r>
              <a:rPr lang="en-US" sz="1250" b="1" dirty="0">
                <a:solidFill>
                  <a:srgbClr val="14213D"/>
                </a:solidFill>
                <a:latin typeface="IBM Plex Sans" pitchFamily="34" charset="0"/>
                <a:ea typeface="IBM Plex Sans" pitchFamily="34" charset="-122"/>
                <a:cs typeface="IBM Plex Sans" pitchFamily="34" charset="-120"/>
              </a:rPr>
              <a:t>Depth:</a:t>
            </a:r>
            <a:r>
              <a:rPr lang="en-US" sz="1250" dirty="0">
                <a:solidFill>
                  <a:srgbClr val="3D4451"/>
                </a:solidFill>
                <a:latin typeface="IBM Plex Sans" pitchFamily="34" charset="0"/>
                <a:ea typeface="IBM Plex Sans" pitchFamily="34" charset="-122"/>
                <a:cs typeface="IBM Plex Sans" pitchFamily="34" charset="-120"/>
              </a:rPr>
              <a:t> 13.0 vs 11.5 mm and 7.0 vs 7.5 mm.</a:t>
            </a:r>
            <a:endParaRPr lang="en-US" sz="1250" dirty="0"/>
          </a:p>
        </p:txBody>
      </p:sp>
      <p:sp>
        <p:nvSpPr>
          <p:cNvPr id="8" name="Shape 5"/>
          <p:cNvSpPr/>
          <p:nvPr/>
        </p:nvSpPr>
        <p:spPr>
          <a:xfrm>
            <a:off x="8029575" y="5598319"/>
            <a:ext cx="3549650" cy="850106"/>
          </a:xfrm>
          <a:prstGeom prst="roundRect">
            <a:avLst>
              <a:gd name="adj" fmla="val 10084"/>
            </a:avLst>
          </a:prstGeom>
          <a:solidFill>
            <a:srgbClr val="FFFFFF"/>
          </a:solidFill>
          <a:ln w="6350">
            <a:solidFill>
              <a:srgbClr val="E3E1DA"/>
            </a:solidFill>
            <a:prstDash val="solid"/>
          </a:ln>
        </p:spPr>
      </p:sp>
      <p:sp>
        <p:nvSpPr>
          <p:cNvPr id="9" name="Text 6"/>
          <p:cNvSpPr/>
          <p:nvPr/>
        </p:nvSpPr>
        <p:spPr>
          <a:xfrm>
            <a:off x="8183880" y="5714524"/>
            <a:ext cx="3338271" cy="643096"/>
          </a:xfrm>
          <a:prstGeom prst="rect">
            <a:avLst/>
          </a:prstGeom>
          <a:noFill/>
          <a:ln/>
        </p:spPr>
        <p:txBody>
          <a:bodyPr wrap="square" lIns="0" tIns="0" rIns="0" bIns="0" rtlCol="0" anchor="t">
            <a:normAutofit/>
          </a:bodyPr>
          <a:lstStyle/>
          <a:p>
            <a:pPr algn="l" indent="0" marL="0">
              <a:lnSpc>
                <a:spcPts val="1688"/>
              </a:lnSpc>
              <a:buNone/>
            </a:pPr>
            <a:r>
              <a:rPr lang="en-US" sz="1250" b="1" dirty="0">
                <a:solidFill>
                  <a:srgbClr val="14213D"/>
                </a:solidFill>
                <a:latin typeface="IBM Plex Sans" pitchFamily="34" charset="0"/>
                <a:ea typeface="IBM Plex Sans" pitchFamily="34" charset="-122"/>
                <a:cs typeface="IBM Plex Sans" pitchFamily="34" charset="-120"/>
              </a:rPr>
              <a:t>Caveat:</a:t>
            </a:r>
            <a:r>
              <a:rPr lang="en-US" sz="1250" dirty="0">
                <a:solidFill>
                  <a:srgbClr val="3D4451"/>
                </a:solidFill>
                <a:latin typeface="IBM Plex Sans" pitchFamily="34" charset="0"/>
                <a:ea typeface="IBM Plex Sans" pitchFamily="34" charset="-122"/>
                <a:cs typeface="IBM Plex Sans" pitchFamily="34" charset="-120"/>
              </a:rPr>
              <a:t> one design; stage and depth vary with the healthy baseline used, the lobes do not.</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064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BLIND TEST · SLICE BY SLICE</a:t>
            </a:r>
            <a:endParaRPr lang="en-US" sz="1200" dirty="0"/>
          </a:p>
        </p:txBody>
      </p:sp>
      <p:sp>
        <p:nvSpPr>
          <p:cNvPr id="3" name="Text 1"/>
          <p:cNvSpPr/>
          <p:nvPr>
            <p:ph type="title"/>
          </p:nvPr>
        </p:nvSpPr>
        <p:spPr>
          <a:xfrm>
            <a:off x="609600" y="734058"/>
            <a:ext cx="11301984" cy="736600"/>
          </a:xfrm>
          <a:prstGeom prst="rect">
            <a:avLst/>
          </a:prstGeom>
          <a:noFill/>
          <a:ln/>
        </p:spPr>
        <p:txBody>
          <a:bodyPr wrap="square" lIns="0" tIns="0" rIns="0" bIns="0" rtlCol="0" anchor="t">
            <a:normAutofit/>
          </a:bodyPr>
          <a:lstStyle/>
          <a:p>
            <a:pPr algn="l" indent="0" marL="0">
              <a:lnSpc>
                <a:spcPts val="2800"/>
              </a:lnSpc>
              <a:buNone/>
            </a:pPr>
            <a:r>
              <a:rPr lang="en-US" sz="2500" b="1" i="0" dirty="0">
                <a:solidFill>
                  <a:srgbClr val="14213D"/>
                </a:solidFill>
                <a:latin typeface="Source Serif 4" pitchFamily="18" charset="0"/>
                <a:ea typeface="Source Serif 4" pitchFamily="18" charset="-122"/>
                <a:cs typeface="Source Serif 4" pitchFamily="18" charset="-120"/>
              </a:rPr>
              <a:t>The blind result drawn through the head: the change sits inside the true lobes</a:t>
            </a:r>
            <a:endParaRPr lang="en-US" sz="2500" dirty="0"/>
          </a:p>
        </p:txBody>
      </p:sp>
      <p:sp>
        <p:nvSpPr>
          <p:cNvPr id="4" name="Shape 2"/>
          <p:cNvSpPr/>
          <p:nvPr/>
        </p:nvSpPr>
        <p:spPr>
          <a:xfrm>
            <a:off x="609600" y="1559558"/>
            <a:ext cx="8255000" cy="4876800"/>
          </a:xfrm>
          <a:prstGeom prst="roundRect">
            <a:avLst>
              <a:gd name="adj" fmla="val 1563"/>
            </a:avLst>
          </a:prstGeom>
          <a:solidFill>
            <a:srgbClr val="FFFFFF"/>
          </a:solidFill>
          <a:ln/>
        </p:spPr>
      </p:sp>
      <p:pic>
        <p:nvPicPr>
          <p:cNvPr id="5" name="Image 0" descr="Blind Test_B slice stack from z = 80 to 0 mm: true change on top, then three blind reconstructions with the true lobes outlined in black; reconstructed change lies inside the two outlined lobes and fades below z = 30 mm">    </p:cNvPr>
          <p:cNvPicPr>
            <a:picLocks noChangeAspect="1"/>
          </p:cNvPicPr>
          <p:nvPr/>
        </p:nvPicPr>
        <p:blipFill>
          <a:blip r:embed="rId1"/>
          <a:srcRect l="0" r="0" t="-36" b="-36"/>
          <a:stretch/>
        </p:blipFill>
        <p:spPr>
          <a:xfrm>
            <a:off x="609600" y="1559558"/>
            <a:ext cx="8255000" cy="4876800"/>
          </a:xfrm>
          <a:prstGeom prst="roundRect">
            <a:avLst>
              <a:gd name="adj" fmla="val 1563"/>
            </a:avLst>
          </a:prstGeom>
        </p:spPr>
      </p:pic>
      <p:sp>
        <p:nvSpPr>
          <p:cNvPr id="6" name="Text 3"/>
          <p:cNvSpPr/>
          <p:nvPr/>
        </p:nvSpPr>
        <p:spPr>
          <a:xfrm>
            <a:off x="9118600" y="2702558"/>
            <a:ext cx="2537714"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Rows:</a:t>
            </a:r>
            <a:r>
              <a:rPr lang="en-US" sz="1300" dirty="0">
                <a:solidFill>
                  <a:srgbClr val="3D4451"/>
                </a:solidFill>
                <a:latin typeface="IBM Plex Sans" pitchFamily="34" charset="0"/>
                <a:ea typeface="IBM Plex Sans" pitchFamily="34" charset="-122"/>
                <a:cs typeface="IBM Plex Sans" pitchFamily="34" charset="-120"/>
              </a:rPr>
              <a:t> truth, then three blind reconstructions. Black outline = true lobes, drawn after scoring.</a:t>
            </a:r>
            <a:endParaRPr lang="en-US" sz="1300" dirty="0"/>
          </a:p>
        </p:txBody>
      </p:sp>
      <p:sp>
        <p:nvSpPr>
          <p:cNvPr id="7" name="Text 4"/>
          <p:cNvSpPr/>
          <p:nvPr/>
        </p:nvSpPr>
        <p:spPr>
          <a:xfrm>
            <a:off x="9118600" y="3535685"/>
            <a:ext cx="2537714" cy="9499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How to read it:</a:t>
            </a:r>
            <a:r>
              <a:rPr lang="en-US" sz="1300" dirty="0">
                <a:solidFill>
                  <a:srgbClr val="3D4451"/>
                </a:solidFill>
                <a:latin typeface="IBM Plex Sans" pitchFamily="34" charset="0"/>
                <a:ea typeface="IBM Plex Sans" pitchFamily="34" charset="-122"/>
                <a:cs typeface="IBM Plex Sans" pitchFamily="34" charset="-120"/>
              </a:rPr>
              <a:t> the data fix which lobes and how much; the vertical shape comes from the lobe model.</a:t>
            </a:r>
            <a:endParaRPr lang="en-US" sz="1300" dirty="0"/>
          </a:p>
        </p:txBody>
      </p:sp>
      <p:sp>
        <p:nvSpPr>
          <p:cNvPr id="8" name="Text 5"/>
          <p:cNvSpPr/>
          <p:nvPr/>
        </p:nvSpPr>
        <p:spPr>
          <a:xfrm>
            <a:off x="9118600" y="4599942"/>
            <a:ext cx="2537714" cy="7188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Below z ≈ 30 mm:</a:t>
            </a:r>
            <a:r>
              <a:rPr lang="en-US" sz="1300" dirty="0">
                <a:solidFill>
                  <a:srgbClr val="3D4451"/>
                </a:solidFill>
                <a:latin typeface="IBM Plex Sans" pitchFamily="34" charset="0"/>
                <a:ea typeface="IBM Plex Sans" pitchFamily="34" charset="-122"/>
                <a:cs typeface="IBM Plex Sans" pitchFamily="34" charset="-120"/>
              </a:rPr>
              <a:t> no sensitivity (hatched); the hippocampus is out of reach.</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1617985"/>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86B6EF"/>
                </a:solidFill>
                <a:latin typeface="IBM Plex Sans" pitchFamily="34" charset="0"/>
                <a:ea typeface="IBM Plex Sans" pitchFamily="34" charset="-122"/>
                <a:cs typeface="IBM Plex Sans" pitchFamily="34" charset="-120"/>
              </a:rPr>
              <a:t>WHAT WE CAN SAY TODAY</a:t>
            </a:r>
            <a:endParaRPr lang="en-US" sz="1300" dirty="0"/>
          </a:p>
        </p:txBody>
      </p:sp>
      <p:sp>
        <p:nvSpPr>
          <p:cNvPr id="3" name="Text 1"/>
          <p:cNvSpPr/>
          <p:nvPr>
            <p:ph type="title"/>
          </p:nvPr>
        </p:nvSpPr>
        <p:spPr>
          <a:xfrm>
            <a:off x="812800" y="2039627"/>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7F6F2"/>
                </a:solidFill>
                <a:latin typeface="Source Serif 4" pitchFamily="18" charset="0"/>
                <a:ea typeface="Source Serif 4" pitchFamily="18" charset="-122"/>
                <a:cs typeface="Source Serif 4" pitchFamily="18" charset="-120"/>
              </a:rPr>
              <a:t>Within one simulated head family</a:t>
            </a:r>
            <a:endParaRPr lang="en-US" sz="3200" dirty="0"/>
          </a:p>
        </p:txBody>
      </p:sp>
      <p:sp>
        <p:nvSpPr>
          <p:cNvPr id="4" name="Text 2"/>
          <p:cNvSpPr/>
          <p:nvPr/>
        </p:nvSpPr>
        <p:spPr>
          <a:xfrm>
            <a:off x="812800" y="2677158"/>
            <a:ext cx="1088339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Detection:</a:t>
            </a:r>
            <a:r>
              <a:rPr lang="en-US" sz="1600" dirty="0">
                <a:solidFill>
                  <a:srgbClr val="C9D3E3"/>
                </a:solidFill>
                <a:latin typeface="IBM Plex Sans" pitchFamily="34" charset="0"/>
                <a:ea typeface="IBM Plex Sans" pitchFamily="34" charset="-122"/>
                <a:cs typeface="IBM Plex Sans" pitchFamily="34" charset="-120"/>
              </a:rPr>
              <a:t> a calibration-free ratio separates Normal from AD and transfers from uniform to regional disease; Severe and one-sided disease sit near the threshold.</a:t>
            </a:r>
            <a:endParaRPr lang="en-US" sz="1600" dirty="0"/>
          </a:p>
        </p:txBody>
      </p:sp>
      <p:sp>
        <p:nvSpPr>
          <p:cNvPr id="5" name="Text 3"/>
          <p:cNvSpPr/>
          <p:nvPr/>
        </p:nvSpPr>
        <p:spPr>
          <a:xfrm>
            <a:off x="812800" y="3436627"/>
            <a:ext cx="1088339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Staging:</a:t>
            </a:r>
            <a:r>
              <a:rPr lang="en-US" sz="1600" dirty="0">
                <a:solidFill>
                  <a:srgbClr val="C9D3E3"/>
                </a:solidFill>
                <a:latin typeface="IBM Plex Sans" pitchFamily="34" charset="0"/>
                <a:ea typeface="IBM Plex Sans" pitchFamily="34" charset="-122"/>
                <a:cs typeface="IBM Plex Sans" pitchFamily="34" charset="-120"/>
              </a:rPr>
              <a:t> the stage order is there, but labels have small margins; Mild vs Moderate not separable; partial disease reads as Normal.</a:t>
            </a:r>
            <a:endParaRPr lang="en-US" sz="1600" dirty="0"/>
          </a:p>
        </p:txBody>
      </p:sp>
      <p:sp>
        <p:nvSpPr>
          <p:cNvPr id="6" name="Text 4"/>
          <p:cNvSpPr/>
          <p:nvPr/>
        </p:nvSpPr>
        <p:spPr>
          <a:xfrm>
            <a:off x="812800" y="4196085"/>
            <a:ext cx="1088339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Imaging:</a:t>
            </a:r>
            <a:r>
              <a:rPr lang="en-US" sz="1600" dirty="0">
                <a:solidFill>
                  <a:srgbClr val="C9D3E3"/>
                </a:solidFill>
                <a:latin typeface="IBM Plex Sans" pitchFamily="34" charset="0"/>
                <a:ea typeface="IBM Plex Sans" pitchFamily="34" charset="-122"/>
                <a:cs typeface="IBM Plex Sans" pitchFamily="34" charset="-120"/>
              </a:rPr>
              <a:t> which lobes changed, from the data, with controls, and confirmed on a blind design; depth only roughly; Severe depth and deep tissue out of reach.</a:t>
            </a:r>
            <a:endParaRPr lang="en-US" sz="1600" dirty="0"/>
          </a:p>
        </p:txBody>
      </p:sp>
      <p:sp>
        <p:nvSpPr>
          <p:cNvPr id="7" name="Text 5"/>
          <p:cNvSpPr/>
          <p:nvPr/>
        </p:nvSpPr>
        <p:spPr>
          <a:xfrm>
            <a:off x="812800" y="4955542"/>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7F6F2"/>
                </a:solidFill>
                <a:latin typeface="IBM Plex Sans" pitchFamily="34" charset="0"/>
                <a:ea typeface="IBM Plex Sans" pitchFamily="34" charset="-122"/>
                <a:cs typeface="IBM Plex Sans" pitchFamily="34" charset="-120"/>
              </a:rPr>
              <a:t>MCI:</a:t>
            </a:r>
            <a:r>
              <a:rPr lang="en-US" sz="1600" dirty="0">
                <a:solidFill>
                  <a:srgbClr val="C9D3E3"/>
                </a:solidFill>
                <a:latin typeface="IBM Plex Sans" pitchFamily="34" charset="0"/>
                <a:ea typeface="IBM Plex Sans" pitchFamily="34" charset="-122"/>
                <a:cs typeface="IBM Plex Sans" pitchFamily="34" charset="-120"/>
              </a:rPr>
              <a:t> beyond this array's sensing depth.</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LIMITS</a:t>
            </a:r>
            <a:endParaRPr lang="en-US" sz="1200" dirty="0"/>
          </a:p>
        </p:txBody>
      </p:sp>
      <p:sp>
        <p:nvSpPr>
          <p:cNvPr id="3" name="Text 1"/>
          <p:cNvSpPr/>
          <p:nvPr>
            <p:ph type="title"/>
          </p:nvPr>
        </p:nvSpPr>
        <p:spPr>
          <a:xfrm>
            <a:off x="609600" y="822958"/>
            <a:ext cx="11301984" cy="395208"/>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What we state up front</a:t>
            </a:r>
            <a:endParaRPr lang="en-US" sz="2600" dirty="0"/>
          </a:p>
        </p:txBody>
      </p:sp>
      <p:sp>
        <p:nvSpPr>
          <p:cNvPr id="4" name="Text 2"/>
          <p:cNvSpPr/>
          <p:nvPr/>
        </p:nvSpPr>
        <p:spPr>
          <a:xfrm>
            <a:off x="612775" y="1348346"/>
            <a:ext cx="5416550" cy="745490"/>
          </a:xfrm>
          <a:prstGeom prst="roundRect">
            <a:avLst>
              <a:gd name="adj" fmla="val 11499"/>
            </a:avLst>
          </a:prstGeom>
          <a:solidFill>
            <a:srgbClr val="FFFFFF"/>
          </a:solidFill>
          <a:ln w="6350">
            <a:solidFill>
              <a:srgbClr val="E3E1DA"/>
            </a:solidFill>
            <a:prstDash val="solid"/>
          </a:ln>
        </p:spPr>
        <p:txBody>
          <a:bodyPr wrap="square" lIns="154597" tIns="116497" rIns="2883" bIns="9109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One idealised spherical head, one simulation per stage: robustness to noise, not generalisation to people.</a:t>
            </a:r>
            <a:endParaRPr lang="en-US" sz="1300" dirty="0"/>
          </a:p>
        </p:txBody>
      </p:sp>
      <p:sp>
        <p:nvSpPr>
          <p:cNvPr id="5" name="Text 3"/>
          <p:cNvSpPr/>
          <p:nvPr/>
        </p:nvSpPr>
        <p:spPr>
          <a:xfrm>
            <a:off x="6162675" y="1348346"/>
            <a:ext cx="5416550" cy="745490"/>
          </a:xfrm>
          <a:prstGeom prst="roundRect">
            <a:avLst>
              <a:gd name="adj" fmla="val 11499"/>
            </a:avLst>
          </a:prstGeom>
          <a:solidFill>
            <a:srgbClr val="FFFFFF"/>
          </a:solidFill>
          <a:ln w="6350">
            <a:solidFill>
              <a:srgbClr val="E3E1DA"/>
            </a:solidFill>
            <a:prstDash val="solid"/>
          </a:ln>
        </p:spPr>
        <p:txBody>
          <a:bodyPr wrap="square" lIns="154597" tIns="116497" rIns="2883" bIns="9109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Thin layers: skin 0.5, skull 3, CSF 0.5 mm, against real ≈ 1–2, 5–7, 1–3 mm.</a:t>
            </a:r>
            <a:endParaRPr lang="en-US" sz="1300" dirty="0"/>
          </a:p>
        </p:txBody>
      </p:sp>
      <p:sp>
        <p:nvSpPr>
          <p:cNvPr id="6" name="Text 4"/>
          <p:cNvSpPr/>
          <p:nvPr/>
        </p:nvSpPr>
        <p:spPr>
          <a:xfrm>
            <a:off x="612775" y="2227188"/>
            <a:ext cx="5416550" cy="745490"/>
          </a:xfrm>
          <a:prstGeom prst="roundRect">
            <a:avLst>
              <a:gd name="adj" fmla="val 11499"/>
            </a:avLst>
          </a:prstGeom>
          <a:solidFill>
            <a:srgbClr val="FFFFFF"/>
          </a:solidFill>
          <a:ln w="6350">
            <a:solidFill>
              <a:srgbClr val="E3E1DA"/>
            </a:solidFill>
            <a:prstDash val="solid"/>
          </a:ln>
        </p:spPr>
        <p:txBody>
          <a:bodyPr wrap="square" lIns="154597" tIns="116497" rIns="2883" bIns="9109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Tissue values held at their 3.24 GHz level; real σ is 28–38% higher at 4.2 GHz.</a:t>
            </a:r>
            <a:endParaRPr lang="en-US" sz="1300" dirty="0"/>
          </a:p>
        </p:txBody>
      </p:sp>
      <p:sp>
        <p:nvSpPr>
          <p:cNvPr id="7" name="Text 5"/>
          <p:cNvSpPr/>
          <p:nvPr/>
        </p:nvSpPr>
        <p:spPr>
          <a:xfrm>
            <a:off x="6162675" y="2227188"/>
            <a:ext cx="5416550" cy="745490"/>
          </a:xfrm>
          <a:prstGeom prst="roundRect">
            <a:avLst>
              <a:gd name="adj" fmla="val 11499"/>
            </a:avLst>
          </a:prstGeom>
          <a:solidFill>
            <a:srgbClr val="FFFFFF"/>
          </a:solidFill>
          <a:ln w="6350">
            <a:solidFill>
              <a:srgbClr val="E3E1DA"/>
            </a:solidFill>
            <a:prstDash val="solid"/>
          </a:ln>
        </p:spPr>
        <p:txBody>
          <a:bodyPr wrap="square" lIns="154597" tIns="116497" rIns="2883" bIns="9109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Lobe sectors are aligned with the antennas, a favourable geometry.</a:t>
            </a:r>
            <a:endParaRPr lang="en-US" sz="1300" dirty="0"/>
          </a:p>
        </p:txBody>
      </p:sp>
      <p:sp>
        <p:nvSpPr>
          <p:cNvPr id="8" name="Text 6"/>
          <p:cNvSpPr/>
          <p:nvPr/>
        </p:nvSpPr>
        <p:spPr>
          <a:xfrm>
            <a:off x="612775" y="3106031"/>
            <a:ext cx="5416550" cy="745490"/>
          </a:xfrm>
          <a:prstGeom prst="roundRect">
            <a:avLst>
              <a:gd name="adj" fmla="val 11499"/>
            </a:avLst>
          </a:prstGeom>
          <a:solidFill>
            <a:srgbClr val="FFFFFF"/>
          </a:solidFill>
          <a:ln w="6350">
            <a:solidFill>
              <a:srgbClr val="E3E1DA"/>
            </a:solidFill>
            <a:prstDash val="solid"/>
          </a:ln>
        </p:spPr>
        <p:txBody>
          <a:bodyPr wrap="square" lIns="154597" tIns="116497" rIns="2883" bIns="9109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The array sees the upper head only (≤ 4% of sensitivity below z = 0): hippocampus and low temporal regions out of reach.</a:t>
            </a:r>
            <a:endParaRPr lang="en-US" sz="1300" dirty="0"/>
          </a:p>
        </p:txBody>
      </p:sp>
      <p:sp>
        <p:nvSpPr>
          <p:cNvPr id="9" name="Text 7"/>
          <p:cNvSpPr/>
          <p:nvPr/>
        </p:nvSpPr>
        <p:spPr>
          <a:xfrm>
            <a:off x="6162675" y="3106031"/>
            <a:ext cx="5416550" cy="745490"/>
          </a:xfrm>
          <a:prstGeom prst="roundRect">
            <a:avLst>
              <a:gd name="adj" fmla="val 11499"/>
            </a:avLst>
          </a:prstGeom>
          <a:solidFill>
            <a:srgbClr val="FFFFFF"/>
          </a:solidFill>
          <a:ln w="6350">
            <a:solidFill>
              <a:srgbClr val="E3E1DA"/>
            </a:solidFill>
            <a:prstDash val="solid"/>
          </a:ln>
        </p:spPr>
        <p:txBody>
          <a:bodyPr wrap="square" lIns="154597" tIns="116497" rIns="2883" bIns="9109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Severe CSF screens tissue below ≈ 5 mm, so its depth cannot be recovered.</a:t>
            </a:r>
            <a:endParaRPr lang="en-US" sz="1300" dirty="0"/>
          </a:p>
        </p:txBody>
      </p:sp>
      <p:sp>
        <p:nvSpPr>
          <p:cNvPr id="10" name="Text 8"/>
          <p:cNvSpPr/>
          <p:nvPr/>
        </p:nvSpPr>
        <p:spPr>
          <a:xfrm>
            <a:off x="612775" y="3984861"/>
            <a:ext cx="5416550" cy="976630"/>
          </a:xfrm>
          <a:prstGeom prst="roundRect">
            <a:avLst>
              <a:gd name="adj" fmla="val 8778"/>
            </a:avLst>
          </a:prstGeom>
          <a:solidFill>
            <a:srgbClr val="FFFFFF"/>
          </a:solidFill>
          <a:ln w="6350">
            <a:solidFill>
              <a:srgbClr val="E3E1DA"/>
            </a:solidFill>
            <a:prstDash val="solid"/>
          </a:ln>
        </p:spPr>
        <p:txBody>
          <a:bodyPr wrap="square" lIns="154597" tIns="116497" rIns="2883" bIns="9109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The measurement-noise model was chosen, not measured, and depth intervals can be too narrow (mirrored left-only design: 3–3.5 mm against 7.5–11.5).</a:t>
            </a:r>
            <a:endParaRPr lang="en-US" sz="1300" dirty="0"/>
          </a:p>
        </p:txBody>
      </p:sp>
      <p:sp>
        <p:nvSpPr>
          <p:cNvPr id="11" name="Text 9"/>
          <p:cNvSpPr/>
          <p:nvPr/>
        </p:nvSpPr>
        <p:spPr>
          <a:xfrm>
            <a:off x="6162675" y="3984861"/>
            <a:ext cx="5416550" cy="976630"/>
          </a:xfrm>
          <a:prstGeom prst="roundRect">
            <a:avLst>
              <a:gd name="adj" fmla="val 8778"/>
            </a:avLst>
          </a:prstGeom>
          <a:solidFill>
            <a:srgbClr val="FFFFFF"/>
          </a:solidFill>
          <a:ln w="6350">
            <a:solidFill>
              <a:srgbClr val="E3E1DA"/>
            </a:solidFill>
            <a:prstDash val="solid"/>
          </a:ln>
        </p:spPr>
        <p:txBody>
          <a:bodyPr wrap="square" lIns="154597" tIns="116497" rIns="2883" bIns="91097" rtlCol="0" anchor="t">
            <a:normAutofit/>
          </a:bodyPr>
          <a:lstStyle/>
          <a:p>
            <a:pPr algn="l" indent="0" marL="0">
              <a:lnSpc>
                <a:spcPts val="1820"/>
              </a:lnSpc>
              <a:buNone/>
            </a:pPr>
            <a:r>
              <a:rPr lang="en-US" sz="1300" dirty="0">
                <a:solidFill>
                  <a:srgbClr val="3D4451"/>
                </a:solidFill>
                <a:latin typeface="IBM Plex Sans" pitchFamily="34" charset="0"/>
                <a:ea typeface="IBM Plex Sans" pitchFamily="34" charset="-122"/>
                <a:cs typeface="IBM Plex Sans" pitchFamily="34" charset="-120"/>
              </a:rPr>
              <a:t>The imaging shape comes from the model (60° full-height wedges); vertical extent is not observed.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2"/>
        </a:solidFill>
      </p:bgPr>
    </p:bg>
    <p:spTree>
      <p:nvGrpSpPr>
        <p:cNvPr id="1" name=""/>
        <p:cNvGrpSpPr/>
        <p:nvPr/>
      </p:nvGrpSpPr>
      <p:grpSpPr>
        <a:xfrm>
          <a:off x="0" y="0"/>
          <a:ext cx="0" cy="0"/>
          <a:chOff x="0" y="0"/>
          <a:chExt cx="0" cy="0"/>
        </a:xfrm>
      </p:grpSpPr>
      <p:sp>
        <p:nvSpPr>
          <p:cNvPr id="2" name="Text 0"/>
          <p:cNvSpPr/>
          <p:nvPr/>
        </p:nvSpPr>
        <p:spPr>
          <a:xfrm>
            <a:off x="609600" y="457200"/>
            <a:ext cx="1130198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A78D6"/>
                </a:solidFill>
                <a:latin typeface="IBM Plex Sans" pitchFamily="34" charset="0"/>
                <a:ea typeface="IBM Plex Sans" pitchFamily="34" charset="-122"/>
                <a:cs typeface="IBM Plex Sans" pitchFamily="34" charset="-120"/>
              </a:rPr>
              <a:t>NEXT STEPS</a:t>
            </a:r>
            <a:endParaRPr lang="en-US" sz="1200" dirty="0"/>
          </a:p>
        </p:txBody>
      </p:sp>
      <p:sp>
        <p:nvSpPr>
          <p:cNvPr id="3" name="Text 1"/>
          <p:cNvSpPr/>
          <p:nvPr>
            <p:ph type="title"/>
          </p:nvPr>
        </p:nvSpPr>
        <p:spPr>
          <a:xfrm>
            <a:off x="609600" y="822958"/>
            <a:ext cx="11301984" cy="395208"/>
          </a:xfrm>
          <a:prstGeom prst="rect">
            <a:avLst/>
          </a:prstGeom>
          <a:noFill/>
          <a:ln/>
        </p:spPr>
        <p:txBody>
          <a:bodyPr wrap="square" lIns="0" tIns="0" rIns="0" bIns="0" rtlCol="0" anchor="t">
            <a:normAutofit/>
          </a:bodyPr>
          <a:lstStyle/>
          <a:p>
            <a:pPr algn="l" indent="0" marL="0">
              <a:lnSpc>
                <a:spcPts val="2912"/>
              </a:lnSpc>
              <a:buNone/>
            </a:pPr>
            <a:r>
              <a:rPr lang="en-US" sz="2600" b="1" i="0" dirty="0">
                <a:solidFill>
                  <a:srgbClr val="14213D"/>
                </a:solidFill>
                <a:latin typeface="Source Serif 4" pitchFamily="18" charset="0"/>
                <a:ea typeface="Source Serif 4" pitchFamily="18" charset="-122"/>
                <a:cs typeface="Source Serif 4" pitchFamily="18" charset="-120"/>
              </a:rPr>
              <a:t>From one simulated head to a classifier that generalises</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9760" y="1355331"/>
          <a:ext cx="10962640" cy="3317240"/>
        </p:xfrm>
        <a:graphic>
          <a:graphicData uri="http://schemas.openxmlformats.org/drawingml/2006/table">
            <a:tbl>
              <a:tblPr/>
              <a:tblGrid>
                <a:gridCol w="657758"/>
                <a:gridCol w="10304882"/>
              </a:tblGrid>
              <a:tr h="383540">
                <a:tc>
                  <a:txBody>
                    <a:bodyPr/>
                    <a:lstStyle/>
                    <a:p>
                      <a:pPr indent="0" marL="0">
                        <a:lnSpc>
                          <a:spcPts val="1960"/>
                        </a:lnSpc>
                        <a:buNone/>
                      </a:pPr>
                      <a:r>
                        <a:rPr lang="en-US" sz="1400" b="1" dirty="0">
                          <a:solidFill>
                            <a:srgbClr val="1E2635"/>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c>
                  <a:txBody>
                    <a:bodyPr/>
                    <a:lstStyle/>
                    <a:p>
                      <a:pPr indent="0" marL="0">
                        <a:lnSpc>
                          <a:spcPts val="1960"/>
                        </a:lnSpc>
                        <a:buNone/>
                      </a:pPr>
                      <a:r>
                        <a:rPr lang="en-US" sz="1400" b="1" dirty="0">
                          <a:solidFill>
                            <a:srgbClr val="1E2635"/>
                          </a:solidFill>
                          <a:latin typeface="IBM Plex Sans" pitchFamily="34" charset="0"/>
                          <a:ea typeface="IBM Plex Sans" pitchFamily="34" charset="-122"/>
                          <a:cs typeface="IBM Plex Sans" pitchFamily="34" charset="-120"/>
                        </a:rPr>
                        <a:t>Step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7B6B3"/>
                      </a:solidFill>
                      <a:prstDash val="solid"/>
                      <a:round/>
                      <a:headEnd type="none" w="med" len="med"/>
                      <a:tailEnd type="none" w="med" len="med"/>
                    </a:lnL>
                    <a:lnR w="12700" cap="flat" cmpd="sng" algn="ctr">
                      <a:solidFill>
                        <a:srgbClr val="B7B6B3"/>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B7B6B3"/>
                      </a:solidFill>
                      <a:prstDash val="solid"/>
                      <a:round/>
                      <a:headEnd type="none" w="med" len="med"/>
                      <a:tailEnd type="none" w="med" len="med"/>
                    </a:lnB>
                    <a:solidFill>
                      <a:srgbClr val="E5E4E0"/>
                    </a:solidFill>
                  </a:tcPr>
                </a:tc>
              </a:tr>
              <a:tr h="63246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Vary the anatomy: ≥ 3 head sizes, skull and CSF thicknesses, antenna stand-offs; score with the frozen rule, then train a classifier on many such heads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B7B6B3"/>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Rotate the head relative to the array, so lobes no longer line up with antennas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A second, lower antenna ring for temporal lobes and vertical information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Frequency-dependent (Debye / Cole–Cole) tissue models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Fields of a diseased head for iterative (DBIM) imaging beyond the linear 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CST anatomical voxel head: simulations running now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r h="383540">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7</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c>
                  <a:txBody>
                    <a:bodyPr/>
                    <a:lstStyle/>
                    <a:p>
                      <a:pPr indent="0" marL="0">
                        <a:lnSpc>
                          <a:spcPts val="1960"/>
                        </a:lnSpc>
                        <a:buNone/>
                      </a:pPr>
                      <a:r>
                        <a:rPr lang="en-US" sz="1400" dirty="0">
                          <a:solidFill>
                            <a:srgbClr val="1E2635"/>
                          </a:solidFill>
                          <a:latin typeface="IBM Plex Sans" pitchFamily="34" charset="0"/>
                          <a:ea typeface="IBM Plex Sans" pitchFamily="34" charset="-122"/>
                          <a:cs typeface="IBM Plex Sans" pitchFamily="34" charset="-120"/>
                        </a:rPr>
                        <a:t>Physical phantom and VNA measurements, with the gain-removing inversion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5C4C1"/>
                      </a:solidFill>
                      <a:prstDash val="solid"/>
                      <a:round/>
                      <a:headEnd type="none" w="med" len="med"/>
                      <a:tailEnd type="none" w="med" len="med"/>
                    </a:lnL>
                    <a:lnR w="12700" cap="flat" cmpd="sng" algn="ctr">
                      <a:solidFill>
                        <a:srgbClr val="C5C4C1"/>
                      </a:solidFill>
                      <a:prstDash val="solid"/>
                      <a:round/>
                      <a:headEnd type="none" w="med" len="med"/>
                      <a:tailEnd type="none" w="med" len="med"/>
                    </a:lnR>
                    <a:lnT w="12700" cap="flat" cmpd="sng" algn="ctr">
                      <a:solidFill>
                        <a:srgbClr val="C5C4C1"/>
                      </a:solidFill>
                      <a:prstDash val="solid"/>
                      <a:round/>
                      <a:headEnd type="none" w="med" len="med"/>
                      <a:tailEnd type="none" w="med" len="med"/>
                    </a:lnT>
                    <a:lnB w="12700" cap="flat" cmpd="sng" algn="ctr">
                      <a:solidFill>
                        <a:srgbClr val="C5C4C1"/>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Microwave AD Detection — Progress Review">
  <a:themeElements>
    <a:clrScheme name="Microwave AD Detection — Progress Review">
      <a:dk1>
        <a:srgbClr val="14213D"/>
      </a:dk1>
      <a:lt1>
        <a:srgbClr val="F7F6F2"/>
      </a:lt1>
      <a:dk2>
        <a:srgbClr val="4D566A"/>
      </a:dk2>
      <a:lt2>
        <a:srgbClr val="E0E1E0"/>
      </a:lt2>
      <a:accent1>
        <a:srgbClr val="2A78D6"/>
      </a:accent1>
      <a:accent2>
        <a:srgbClr val="86B6EF"/>
      </a:accent2>
      <a:accent3>
        <a:srgbClr val="9FB0C8"/>
      </a:accent3>
      <a:accent4>
        <a:srgbClr val="3D4451"/>
      </a:accent4>
      <a:accent5>
        <a:srgbClr val="C9D3E3"/>
      </a:accent5>
      <a:accent6>
        <a:srgbClr val="6A7180"/>
      </a:accent6>
      <a:hlink>
        <a:srgbClr val="0563C1"/>
      </a:hlink>
      <a:folHlink>
        <a:srgbClr val="954F72"/>
      </a:folHlink>
    </a:clrScheme>
    <a:fontScheme name="Microwave AD Detection — Progress Review">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Microwave AD Detection — Progress Review</dc:title>
  <dc:subject/>
  <dc:creator/>
  <cp:lastModifiedBy/>
  <cp:revision>1</cp:revision>
  <dcterms:created xsi:type="dcterms:W3CDTF">2026-10-04T12:32:34Z</dcterms:created>
  <dcterms:modified xsi:type="dcterms:W3CDTF">2026-10-04T12:32:34Z</dcterms:modified>
</cp:coreProperties>
</file>