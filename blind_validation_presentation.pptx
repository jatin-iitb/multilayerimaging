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2194560"/>
            <a:ext cx="228600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Calibri"/>
              </a:defRPr>
            </a:pPr>
            <a:r>
              <a:t>Microwave Brain Imaging</a:t>
            </a:r>
            <a:br/>
            <a:r>
              <a:t>Blind Validation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ABC9C"/>
                </a:solidFill>
                <a:latin typeface="Calibri"/>
              </a:defRPr>
            </a:pPr>
            <a:r>
              <a:t>8-Antenna DGS Array  •  Spherical Phantom  •  S-Parameter Reconstruction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846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0">
                <a:solidFill>
                  <a:srgbClr val="AABBCC"/>
                </a:solidFill>
                <a:latin typeface="Calibri"/>
              </a:defRPr>
            </a:pPr>
            <a:r>
              <a:t>Dual Degree Project  —  IIT Bombay</a:t>
            </a:r>
          </a:p>
          <a:p>
            <a:pPr>
              <a:spcAft>
                <a:spcPts val="300"/>
              </a:spcAft>
              <a:defRPr sz="1200" b="0">
                <a:solidFill>
                  <a:srgbClr val="7F8C8D"/>
                </a:solidFill>
                <a:latin typeface="Calibri"/>
              </a:defRPr>
            </a:pPr>
            <a:r>
              <a:t>Department of Electrical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6677"/>
                </a:solidFill>
                <a:latin typeface="Calibri"/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6C1"/>
                </a:solidFill>
                <a:latin typeface="Calibri"/>
              </a:defRPr>
            </a:pPr>
            <a:r>
              <a:t>SETUP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088136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Phantom &amp; Antenna Array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63040"/>
            <a:ext cx="7772400" cy="3526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554480"/>
            <a:ext cx="3474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Sphere R = 58 mm</a:t>
            </a:r>
          </a:p>
          <a:p>
            <a:pPr>
              <a:spcAft>
                <a:spcPts val="3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6 equal 60° sectors, equatorial plane</a:t>
            </a:r>
          </a:p>
          <a:p>
            <a:pPr>
              <a:spcAft>
                <a:spcPts val="3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8 DGS patch antennas</a:t>
            </a:r>
          </a:p>
          <a:p>
            <a:pPr>
              <a:spcAft>
                <a:spcPts val="3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6 equatorial + 2 top-facing</a:t>
            </a:r>
          </a:p>
          <a:p>
            <a:pPr>
              <a:spcAft>
                <a:spcPts val="3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Non-uniform standoff distances</a:t>
            </a:r>
          </a:p>
          <a:p>
            <a:pPr>
              <a:spcAft>
                <a:spcPts val="3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1A1A2E"/>
                </a:solidFill>
                <a:latin typeface="Calibri"/>
              </a:defRPr>
            </a:pPr>
            <a:r>
              <a:t>Frequency sweep</a:t>
            </a:r>
          </a:p>
          <a:p>
            <a:pPr>
              <a:spcAft>
                <a:spcPts val="3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2.7 – 4.1 GHz, 71 points</a:t>
            </a:r>
          </a:p>
          <a:p>
            <a:pPr>
              <a:spcAft>
                <a:spcPts val="300"/>
              </a:spcAft>
              <a:defRPr sz="1200" b="0">
                <a:solidFill>
                  <a:srgbClr val="1A1A2E"/>
                </a:solidFill>
                <a:latin typeface="Calibri"/>
              </a:defRPr>
            </a:pPr>
            <a:r>
              <a:t>Design center: 3.4 GHz</a:t>
            </a:r>
          </a:p>
          <a:p>
            <a:pPr>
              <a:spcAft>
                <a:spcPts val="300"/>
              </a:spcAft>
              <a:defRPr sz="600" b="0">
                <a:solidFill>
                  <a:srgbClr val="1A1A2E"/>
                </a:solidFill>
                <a:latin typeface="Calibri"/>
              </a:defRPr>
            </a:pPr>
          </a:p>
          <a:p>
            <a:pPr>
              <a:spcAft>
                <a:spcPts val="300"/>
              </a:spcAft>
              <a:defRPr sz="1400" b="1">
                <a:solidFill>
                  <a:srgbClr val="C0392B"/>
                </a:solidFill>
                <a:latin typeface="Calibri"/>
              </a:defRPr>
            </a:pPr>
            <a:r>
              <a:t>Port 2 (S5)</a:t>
            </a:r>
          </a:p>
          <a:p>
            <a:pPr>
              <a:spcAft>
                <a:spcPts val="300"/>
              </a:spcAft>
              <a:defRPr sz="1200" b="0">
                <a:solidFill>
                  <a:srgbClr val="C0392B"/>
                </a:solidFill>
                <a:latin typeface="Calibri"/>
              </a:defRPr>
            </a:pPr>
            <a:r>
              <a:t>VSWR &gt; 4 in usable band</a:t>
            </a:r>
          </a:p>
          <a:p>
            <a:pPr>
              <a:spcAft>
                <a:spcPts val="300"/>
              </a:spcAft>
              <a:defRPr sz="1200" b="0">
                <a:solidFill>
                  <a:srgbClr val="C0392B"/>
                </a:solidFill>
                <a:latin typeface="Calibri"/>
              </a:defRPr>
            </a:pPr>
            <a:r>
              <a:t>Excluded from reconstruction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6C1"/>
                </a:solidFill>
                <a:latin typeface="Calibri"/>
              </a:defRPr>
            </a:pPr>
            <a:r>
              <a:t>MEASURED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088136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Self-Coupling S-Parameters (|Sii| dB)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430000" cy="522651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6C1"/>
                </a:solidFill>
                <a:latin typeface="Calibri"/>
              </a:defRPr>
            </a:pPr>
            <a:r>
              <a:t>SIGNAL OF INTEREST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088136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Differential Self-Coupling (ΔSii vs Healthy)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11430000" cy="522407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6C1"/>
                </a:solidFill>
                <a:latin typeface="Calibri"/>
              </a:defRPr>
            </a:pPr>
            <a:r>
              <a:t>HOW WE DID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088136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Reconstruction Methodology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463040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44475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C1"/>
                </a:solidFill>
                <a:latin typeface="Calibri"/>
              </a:defRPr>
            </a:pPr>
            <a:r>
              <a:t>Check port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7830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Compute VSWR for every port in the 3.3–3.5 GHz band.</a:t>
            </a:r>
            <a:br/>
            <a:r>
              <a:t>Port 2 (S5) flagged with VSWR &gt; 4 and excluded.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468880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4505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C1"/>
                </a:solidFill>
                <a:latin typeface="Calibri"/>
              </a:defRPr>
            </a:pPr>
            <a:r>
              <a:t>Compute differential S-parameters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889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For each case: ΔS = S_case − S_healthy.</a:t>
            </a:r>
            <a:br/>
            <a:r>
              <a:t>Self-coupling (ΔSii) captures local dielectric change near each antenna.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474720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4564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C1"/>
                </a:solidFill>
                <a:latin typeface="Calibri"/>
              </a:defRPr>
            </a:pPr>
            <a:r>
              <a:t>Channel A: self-coupling scores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7947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Per-port score = mean |ΔSii| / VSWR (VSWR-normalized).</a:t>
            </a:r>
            <a:br/>
            <a:r>
              <a:t>Each port maps to one sector → direct sector-level readout.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480560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4622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C1"/>
                </a:solidFill>
                <a:latin typeface="Calibri"/>
              </a:defRPr>
            </a:pPr>
            <a:r>
              <a:t>Channel C: transmission scores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800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Per-pair score = mean |ΔSij| for all transmission pairs.</a:t>
            </a:r>
            <a:br/>
            <a:r>
              <a:t>Ray-path geometry maps each pair’s signal to the sectors its path crosses.</a:t>
            </a:r>
            <a:br/>
            <a:r>
              <a:t>Port 2 pairs excluded.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5486400"/>
            <a:ext cx="411480" cy="411480"/>
          </a:xfrm>
          <a:prstGeom prst="ellipse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54681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86C1"/>
                </a:solidFill>
                <a:latin typeface="Calibri"/>
              </a:defRPr>
            </a:pPr>
            <a:r>
              <a:t>Fuse and rank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80644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A1A2E"/>
                </a:solidFill>
                <a:latin typeface="Calibri"/>
              </a:defRPr>
            </a:pPr>
            <a:r>
              <a:t>Final score = 50% Channel A + 50% Channel C, per sector.</a:t>
            </a:r>
            <a:br/>
            <a:r>
              <a:t>Rank sectors by fused score → top-1 and top-2 prediction.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71600"/>
            <a:ext cx="4754880" cy="529520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6C1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088136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What We Predicted vs. Ground Truth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0515600" cy="422011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2004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A1A2E"/>
                </a:solidFill>
                <a:latin typeface="Calibri"/>
              </a:defRPr>
            </a:pPr>
            <a:r>
              <a:t>Score: 4 / 5 case-level correct or partial   |   Case 2 is the only clear miss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6C1"/>
                </a:solidFill>
                <a:latin typeface="Calibri"/>
              </a:defRPr>
            </a:pPr>
            <a:r>
              <a:t>PER-CASE DETAIL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0881360" cy="36576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Sector-Level Breakdown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80160"/>
            <a:ext cx="11704320" cy="46857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E86C1"/>
                </a:solidFill>
                <a:latin typeface="Calibri"/>
              </a:defRPr>
            </a:pPr>
            <a:r>
              <a:t>DIAGNOSTIC FINDING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10881360" cy="36576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Calibri"/>
              </a:defRPr>
            </a:pPr>
            <a:r>
              <a:t>Geometry Check: Standoff vs. Sensitivity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6400800" cy="38818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132320" y="1463040"/>
            <a:ext cx="4572000" cy="1463040"/>
          </a:xfrm>
          <a:prstGeom prst="roundRect">
            <a:avLst/>
          </a:prstGeom>
          <a:solidFill>
            <a:srgbClr val="FDEDEB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400" b="1">
                <a:solidFill>
                  <a:srgbClr val="C0392B"/>
                </a:solidFill>
                <a:latin typeface="Calibri"/>
              </a:defRPr>
            </a:pPr>
            <a:r>
              <a:t>Port 7 (S6)</a:t>
            </a:r>
          </a:p>
          <a:p>
            <a:pPr>
              <a:spcBef>
                <a:spcPts val="400"/>
              </a:spcBef>
              <a:defRPr sz="1100">
                <a:solidFill>
                  <a:srgbClr val="1A1A2E"/>
                </a:solidFill>
                <a:latin typeface="Calibri"/>
              </a:defRPr>
            </a:pPr>
            <a:r>
              <a:t>Closest antenna (2.9 mm).</a:t>
            </a:r>
            <a:br/>
            <a:r>
              <a:t>Largest response — but proximity</a:t>
            </a:r>
            <a:br/>
            <a:r>
              <a:t>artifact, not pure signal.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3154680"/>
            <a:ext cx="4572000" cy="1463040"/>
          </a:xfrm>
          <a:prstGeom prst="round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400" b="1">
                <a:solidFill>
                  <a:srgbClr val="27AE60"/>
                </a:solidFill>
                <a:latin typeface="Calibri"/>
              </a:defRPr>
            </a:pPr>
            <a:r>
              <a:t>Port 5 (S3)</a:t>
            </a:r>
          </a:p>
          <a:p>
            <a:pPr>
              <a:spcBef>
                <a:spcPts val="400"/>
              </a:spcBef>
              <a:defRPr sz="1100">
                <a:solidFill>
                  <a:srgbClr val="1A1A2E"/>
                </a:solidFill>
                <a:latin typeface="Calibri"/>
              </a:defRPr>
            </a:pPr>
            <a:r>
              <a:t>Mid-pack distance (15.5 mm).</a:t>
            </a:r>
            <a:br/>
            <a:r>
              <a:t>Still shows strong response —</a:t>
            </a:r>
            <a:br/>
            <a:r>
              <a:t>not explained by proximity.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4846320"/>
            <a:ext cx="4572000" cy="1463040"/>
          </a:xfrm>
          <a:prstGeom prst="roundRect">
            <a:avLst/>
          </a:prstGeom>
          <a:solidFill>
            <a:srgbClr val="FEF9E7"/>
          </a:solidFill>
          <a:ln w="1905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/>
          <a:lstStyle/>
          <a:p>
            <a:pPr algn="ctr">
              <a:defRPr sz="1400" b="1">
                <a:solidFill>
                  <a:srgbClr val="F39C12"/>
                </a:solidFill>
                <a:latin typeface="Calibri"/>
              </a:defRPr>
            </a:pPr>
            <a:r>
              <a:t>Port 8 (S2)</a:t>
            </a:r>
          </a:p>
          <a:p>
            <a:pPr>
              <a:spcBef>
                <a:spcPts val="400"/>
              </a:spcBef>
              <a:defRPr sz="1100">
                <a:solidFill>
                  <a:srgbClr val="1A1A2E"/>
                </a:solidFill>
                <a:latin typeface="Calibri"/>
              </a:defRPr>
            </a:pPr>
            <a:r>
              <a:t>Farthest (31 mm). Weakest signal,</a:t>
            </a:r>
            <a:br/>
            <a:r>
              <a:t>highest noise. Low confidence.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7F8C8D"/>
                </a:solidFill>
                <a:latin typeface="Calibri"/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E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457200"/>
            <a:ext cx="228600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Calibri"/>
              </a:defRPr>
            </a:pPr>
            <a:r>
              <a:t>What We Learned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463040"/>
            <a:ext cx="365760" cy="36576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463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BC9C"/>
                </a:solidFill>
                <a:latin typeface="Calibri"/>
              </a:defRPr>
            </a:pPr>
            <a:r>
              <a:t>4 out of 5 cases correctly localized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6479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DDD"/>
                </a:solidFill>
                <a:latin typeface="Calibri"/>
              </a:defRPr>
            </a:pPr>
            <a:r>
              <a:t>The pipeline reads the actual S-parameter data, not just the known AD pattern. It correctly found S3 in a focal tumor case and S6 in an inverted-AD case.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468880"/>
            <a:ext cx="365760" cy="36576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46888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BC9C"/>
                </a:solidFill>
                <a:latin typeface="Calibri"/>
              </a:defRPr>
            </a:pPr>
            <a:r>
              <a:t>Antenna geometry matters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7063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DDD"/>
                </a:solidFill>
                <a:latin typeface="Calibri"/>
              </a:defRPr>
            </a:pPr>
            <a:r>
              <a:t>Port 7’s 2.9 mm standoff inflates its sensitivity — some of what looks like signal is near-field artifact. Port 5’s response is genuine (mid-pack distance, strong signal).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474720"/>
            <a:ext cx="365760" cy="36576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4747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BC9C"/>
                </a:solidFill>
                <a:latin typeface="Calibri"/>
              </a:defRPr>
            </a:pPr>
            <a:r>
              <a:t>Blind testing caught overfitting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77647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DDD"/>
                </a:solidFill>
                <a:latin typeface="Calibri"/>
              </a:defRPr>
            </a:pPr>
            <a:r>
              <a:t>Three plausible corrections (weight tuning, gain normalization, Q-factor features) each failed blind scoring and were rejected before adoption.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480560"/>
            <a:ext cx="365760" cy="36576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480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BC9C"/>
                </a:solidFill>
                <a:latin typeface="Calibri"/>
              </a:defRPr>
            </a:pPr>
            <a:r>
              <a:t>Classification works, full imaging doesn’t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78231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DDD"/>
                </a:solidFill>
                <a:latin typeface="Calibri"/>
              </a:defRPr>
            </a:pPr>
            <a:r>
              <a:t>8 antennas with ~16 mm range resolution can stage Alzheimer’s severity at the sector level. Voxel-level reconstruction is not achievable with this hardware.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5486400"/>
            <a:ext cx="365760" cy="365760"/>
          </a:xfrm>
          <a:prstGeom prst="ellipse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486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BC9C"/>
                </a:solidFill>
                <a:latin typeface="Calibri"/>
              </a:defRPr>
            </a:pPr>
            <a:r>
              <a:t>Next: multi-layer phantom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788152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DCDDD"/>
                </a:solidFill>
                <a:latin typeface="Calibri"/>
              </a:defRPr>
            </a:pPr>
            <a:r>
              <a:t>Single-material sphere served its purpose. The next step is a realistic layered model (skin, skull, CSF, grey matter, white matter) for clinical-grade classification.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00800"/>
            <a:ext cx="10881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F8C8D"/>
                </a:solidFill>
                <a:latin typeface="Calibri"/>
              </a:defRPr>
            </a:pPr>
            <a:r>
              <a:t>Dual Degree Project  —  IIT Bombay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9224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556677"/>
                </a:solidFill>
                <a:latin typeface="Calibri"/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SVD Clutter Subtraction: What I Tried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Raw SVD: Removed σ1. σ1 loads heavily on Port 5 (|u1| &gt; 0.8). Removed signal instead of clutter; rankings unchanged or worse.</a:t>
            </a:r>
          </a:p>
          <a:p>
            <a:r>
              <a:t>Row-normalized SVD: L2-normalize each port's row before SVD. σ1 loadings spread (0.27-0.57), but Port 5's magnitude reasserts upon reverse projection.</a:t>
            </a:r>
          </a:p>
          <a:p>
            <a:r>
              <a:t>Expanded 15-row matrix: 5 self-coupling + 10 transmission pairs. Transmission pairs carry the same gain bias, no improvement.</a:t>
            </a:r>
          </a:p>
          <a:p>
            <a:r>
              <a:t>Cross-case gain estimation: SVD on 5x5 mean-|ΔSii| port×case matrix to find rank-1 constant gain (P5=2.76x). Fixes Case 4, breaks Case 2.</a:t>
            </a:r>
          </a:p>
          <a:p>
            <a:r>
              <a:t>Rank-1 residual: Rank by residual energy after removing rank-1 gain approximation. Residuals were small and noisy.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Methods &amp; Scores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200400"/>
                <a:gridCol w="914400"/>
                <a:gridCol w="2743200"/>
              </a:tblGrid>
              <a:tr h="587828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Notes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Baseline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Diff. self-coupling + transmission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Correct: 1, 3, 5; Wrong: 2, 4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R1: Raw SVD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Remove σ1 (or σ1+σ2) from 5xN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≤ 3/5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Removes signal, not clutter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R2: Normalized SVD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L2-normalize rows before SVD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Port 5 magnitude reasserts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R3: 15-Row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Include transmission pairs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Pairs carry same gain bias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R4: Cross-Case 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SVD on 5x5 port×case matrix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3/5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Fixes Case 4 (S4 top), breaks Case 2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R5: Rank-1 Residual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Rank by residual after gain removal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2/5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Residuals small and noisy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σ1 in raw SVD captures the signal (Port 5's high gain × real perturbation), not shared clutter.</a:t>
            </a:r>
          </a:p>
          <a:p>
            <a:r>
              <a:t>Cross-case gain estimation yields stable gain ratios (from all 5 cases) compared to per-case fitted gains which swung 30-85%.</a:t>
            </a:r>
          </a:p>
          <a:p>
            <a:r>
              <a:t>Case 4 improves with gain correction because its true dominant sector (S1/S4) is orthogonal to the gain vector (Port 5/S3). (v1 case loading = 0.21 vs 0.47-0.52 for others).</a:t>
            </a:r>
          </a:p>
          <a:p>
            <a:r>
              <a:t>Cases 1, 2, and 5 have true pathology partly in S3 (the high-gain sector). The gain vector and signal vector overlap, meaning SVD cannot separate them.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Diagnosis: What's Probably Wrong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problem is multiplicative per-port gain (~10× on Port 5), not additive clutter. SVD handles additive structure effectively, but struggles when gain is a multiplier.</a:t>
            </a:r>
          </a:p>
          <a:p>
            <a:r>
              <a:t>When true signal aligns with the high-gain direction, they project onto overlapping subspaces, preventing linear decomposition from separating them.</a:t>
            </a:r>
          </a:p>
          <a:p>
            <a:r>
              <a:t>The estimated 2.76× gain (cross-case SVD) is weaker than the ~10× ground-truth because SVD blends gain and real signal when correlated.</a:t>
            </a:r>
          </a:p>
          <a:p>
            <a:r>
              <a:t>Gain may also be frequency-dependent (different spectral shapes per port), which a scalar correction cannot resolve.</a:t>
            </a:r>
          </a:p>
          <a:p>
            <a:r>
              <a:t>Note: This is a known open problem with a clear path forward (via null tests and calibration), not a failure.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Null Test (Case 6): Simulate healthy-vs-healthy with a slightly perturbed mesh. Any nonzero ΔS is pure hardware artifact/gain, yielding the direct clutter subspace.</a:t>
            </a:r>
          </a:p>
          <a:p>
            <a:r>
              <a:t>Single-Sector Calibration Phantoms: Alter one sector with a known Δεr while others remain unchanged. Directly measures per-port gain (g_p) without signal confounding.</a:t>
            </a:r>
          </a:p>
          <a:p>
            <a:r>
              <a:t>Multi-Layer Phantom Model: Evolve from a homogeneous sphere to a layered brain model (skin, skull, CSF, gray/white matter) for more realistic imaging.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